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8fdaf389ab4b52" /><Relationship Type="http://schemas.openxmlformats.org/officeDocument/2006/relationships/extended-properties" Target="/docProps/app.xml" Id="Ra89b95528e764861" /><Relationship Type="http://schemas.openxmlformats.org/officeDocument/2006/relationships/officeDocument" Target="/ppt/presentation.xml" Id="R750cfa35d70140c6" /></Relationships>
</file>

<file path=ppt/presentation.xml><?xml version="1.0" encoding="utf-8"?>
<p:presentation xmlns:p="http://schemas.openxmlformats.org/presentationml/2006/main">
  <p:sldMasterIdLst>
    <p:sldMasterId xmlns:r="http://schemas.openxmlformats.org/officeDocument/2006/relationships" id="2147483648" r:id="Rbc6eb98f11964efa"/>
  </p:sldMasterIdLst>
  <p:notesMasterIdLst>
    <p:notesMasterId xmlns:r="http://schemas.openxmlformats.org/officeDocument/2006/relationships" r:id="Rf762302716a04884"/>
  </p:notesMasterIdLst>
  <p:sldIdLst>
    <p:sldId xmlns:r="http://schemas.openxmlformats.org/officeDocument/2006/relationships" id="256" r:id="R15fdf32199e141ec"/>
    <p:sldId xmlns:r="http://schemas.openxmlformats.org/officeDocument/2006/relationships" id="257" r:id="R3417e0aab7c34d43"/>
    <p:sldId xmlns:r="http://schemas.openxmlformats.org/officeDocument/2006/relationships" id="258" r:id="R5368556968304522"/>
    <p:sldId xmlns:r="http://schemas.openxmlformats.org/officeDocument/2006/relationships" id="259" r:id="Rabda09eff84049ec"/>
    <p:sldId xmlns:r="http://schemas.openxmlformats.org/officeDocument/2006/relationships" id="260" r:id="R61dbf3bb757c41e1"/>
    <p:sldId xmlns:r="http://schemas.openxmlformats.org/officeDocument/2006/relationships" id="261" r:id="R489797d789ed4a8f"/>
    <p:sldId xmlns:r="http://schemas.openxmlformats.org/officeDocument/2006/relationships" id="262" r:id="R95d985cb910e4a2f"/>
    <p:sldId xmlns:r="http://schemas.openxmlformats.org/officeDocument/2006/relationships" id="263" r:id="Ra4f507b28ece4d56"/>
    <p:sldId xmlns:r="http://schemas.openxmlformats.org/officeDocument/2006/relationships" id="264" r:id="Rc566f54916f94e03"/>
    <p:sldId xmlns:r="http://schemas.openxmlformats.org/officeDocument/2006/relationships" id="265" r:id="Rc27e43a4d78c4e21"/>
    <p:sldId xmlns:r="http://schemas.openxmlformats.org/officeDocument/2006/relationships" id="266" r:id="R2381c251402d46a5"/>
    <p:sldId xmlns:r="http://schemas.openxmlformats.org/officeDocument/2006/relationships" id="267" r:id="R4ce4e441644a4b19"/>
    <p:sldId xmlns:r="http://schemas.openxmlformats.org/officeDocument/2006/relationships" id="268" r:id="R3f2e6d7201064479"/>
    <p:sldId xmlns:r="http://schemas.openxmlformats.org/officeDocument/2006/relationships" id="269" r:id="R617d22a64a2f44fe"/>
    <p:sldId xmlns:r="http://schemas.openxmlformats.org/officeDocument/2006/relationships" id="270" r:id="R3ca987f57f6c4a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8b00f781ed4544" /><Relationship Type="http://schemas.openxmlformats.org/officeDocument/2006/relationships/slideMaster" Target="/ppt/slideMasters/slideMaster1.xml" Id="Rbc6eb98f11964efa" /><Relationship Type="http://schemas.openxmlformats.org/officeDocument/2006/relationships/notesMaster" Target="/ppt/notesMasters/notesMaster1.xml" Id="Rf762302716a04884" /><Relationship Type="http://schemas.openxmlformats.org/officeDocument/2006/relationships/presProps" Target="/ppt/presProps.xml" Id="Rf17c3eaf5d734d96" /><Relationship Type="http://schemas.openxmlformats.org/officeDocument/2006/relationships/tableStyles" Target="/ppt/tableStyles.xml" Id="R24cec5251bbc4b35" /><Relationship Type="http://schemas.openxmlformats.org/officeDocument/2006/relationships/slide" Target="/ppt/slides/slide1.xml" Id="R15fdf32199e141ec" /><Relationship Type="http://schemas.openxmlformats.org/officeDocument/2006/relationships/slide" Target="/ppt/slides/slide2.xml" Id="R3417e0aab7c34d43" /><Relationship Type="http://schemas.openxmlformats.org/officeDocument/2006/relationships/slide" Target="/ppt/slides/slide3.xml" Id="R5368556968304522" /><Relationship Type="http://schemas.openxmlformats.org/officeDocument/2006/relationships/slide" Target="/ppt/slides/slide4.xml" Id="Rabda09eff84049ec" /><Relationship Type="http://schemas.openxmlformats.org/officeDocument/2006/relationships/slide" Target="/ppt/slides/slide5.xml" Id="R61dbf3bb757c41e1" /><Relationship Type="http://schemas.openxmlformats.org/officeDocument/2006/relationships/slide" Target="/ppt/slides/slide6.xml" Id="R489797d789ed4a8f" /><Relationship Type="http://schemas.openxmlformats.org/officeDocument/2006/relationships/slide" Target="/ppt/slides/slide7.xml" Id="R95d985cb910e4a2f" /><Relationship Type="http://schemas.openxmlformats.org/officeDocument/2006/relationships/slide" Target="/ppt/slides/slide8.xml" Id="Ra4f507b28ece4d56" /><Relationship Type="http://schemas.openxmlformats.org/officeDocument/2006/relationships/slide" Target="/ppt/slides/slide9.xml" Id="Rc566f54916f94e03" /><Relationship Type="http://schemas.openxmlformats.org/officeDocument/2006/relationships/slide" Target="/ppt/slides/slide10.xml" Id="Rc27e43a4d78c4e21" /><Relationship Type="http://schemas.openxmlformats.org/officeDocument/2006/relationships/slide" Target="/ppt/slides/slide11.xml" Id="R2381c251402d46a5" /><Relationship Type="http://schemas.openxmlformats.org/officeDocument/2006/relationships/slide" Target="/ppt/slides/slide12.xml" Id="R4ce4e441644a4b19" /><Relationship Type="http://schemas.openxmlformats.org/officeDocument/2006/relationships/slide" Target="/ppt/slides/slide13.xml" Id="R3f2e6d7201064479" /><Relationship Type="http://schemas.openxmlformats.org/officeDocument/2006/relationships/slide" Target="/ppt/slides/slide14.xml" Id="R617d22a64a2f44fe" /><Relationship Type="http://schemas.openxmlformats.org/officeDocument/2006/relationships/slide" Target="/ppt/slides/slide15.xml" Id="R3ca987f57f6c4a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f2a3b70ea747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bf7b7d0f574b33" /><Relationship Type="http://schemas.openxmlformats.org/officeDocument/2006/relationships/notesMaster" Target="/ppt/notesMasters/notesMaster1.xml" Id="R96e33c61279e46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444ed15f6d485a" /><Relationship Type="http://schemas.openxmlformats.org/officeDocument/2006/relationships/notesMaster" Target="/ppt/notesMasters/notesMaster1.xml" Id="R49a4e5fd248c4f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9084954cb944a5" /><Relationship Type="http://schemas.openxmlformats.org/officeDocument/2006/relationships/notesMaster" Target="/ppt/notesMasters/notesMaster1.xml" Id="Rd611f7f6259e43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7a0c028d1049c2" /><Relationship Type="http://schemas.openxmlformats.org/officeDocument/2006/relationships/notesMaster" Target="/ppt/notesMasters/notesMaster1.xml" Id="R7e971da6c8cb40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e12d4debc34a26" /><Relationship Type="http://schemas.openxmlformats.org/officeDocument/2006/relationships/notesMaster" Target="/ppt/notesMasters/notesMaster1.xml" Id="R70b571cdbabf44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727ccd0a044572" /><Relationship Type="http://schemas.openxmlformats.org/officeDocument/2006/relationships/notesMaster" Target="/ppt/notesMasters/notesMaster1.xml" Id="R97d08be07a874d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696433e00b4484" /><Relationship Type="http://schemas.openxmlformats.org/officeDocument/2006/relationships/notesMaster" Target="/ppt/notesMasters/notesMaster1.xml" Id="R86c58479c3ce44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d415b83bd74042" /><Relationship Type="http://schemas.openxmlformats.org/officeDocument/2006/relationships/notesMaster" Target="/ppt/notesMasters/notesMaster1.xml" Id="R4673c695434442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048847722f4c3b" /><Relationship Type="http://schemas.openxmlformats.org/officeDocument/2006/relationships/notesMaster" Target="/ppt/notesMasters/notesMaster1.xml" Id="R26809af157fb4c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7c10624daa4817" /><Relationship Type="http://schemas.openxmlformats.org/officeDocument/2006/relationships/notesMaster" Target="/ppt/notesMasters/notesMaster1.xml" Id="R4596ce0649a84f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d6e2b521b44906" /><Relationship Type="http://schemas.openxmlformats.org/officeDocument/2006/relationships/notesMaster" Target="/ppt/notesMasters/notesMaster1.xml" Id="Ra7ce35ca4d6844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42ed413e4844b9" /><Relationship Type="http://schemas.openxmlformats.org/officeDocument/2006/relationships/notesMaster" Target="/ppt/notesMasters/notesMaster1.xml" Id="R5d29ae79ddd549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5f92d577e74326" /><Relationship Type="http://schemas.openxmlformats.org/officeDocument/2006/relationships/notesMaster" Target="/ppt/notesMasters/notesMaster1.xml" Id="Rdde6e7bfc2a244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f1a561e82746c4" /><Relationship Type="http://schemas.openxmlformats.org/officeDocument/2006/relationships/notesMaster" Target="/ppt/notesMasters/notesMaster1.xml" Id="R58a57bca5b274d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f1dcb04dfd4f21" /><Relationship Type="http://schemas.openxmlformats.org/officeDocument/2006/relationships/notesMaster" Target="/ppt/notesMasters/notesMaster1.xml" Id="R6e41dec26f6a45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1 · 0:40</a:t>
            </a:r>
          </a:p>
          <a:p xmlns:a="http://schemas.openxmlformats.org/drawingml/2006/main">
            <a:r>
              <a:t/>
            </a:r>
          </a:p>
          <a:p xmlns:a="http://schemas.openxmlformats.org/drawingml/2006/main">
            <a:r>
              <a:t>APERTURA. Somos cinco integrantes y vamos a explicar qué almacena una base vectorial, cómo encuentra información parecida y qué decisiones exige su administración. El buscador de jugadores es nuestro caso de aplicación. Primero vamos a entender el mecanismo y después mostrarlo funcionando. No necesitamos empezar por el modelo generativo: una base vectorial también sirve sin RAG.</a:t>
            </a:r>
          </a:p>
          <a:p xmlns:a="http://schemas.openxmlformats.org/drawingml/2006/main">
            <a:r>
              <a:t>TRANSICIÓN. El punto de partida es un problema de recuperación, no una tecnología de moda.</a:t>
            </a:r>
          </a:p>
          <a:p xmlns:a="http://schemas.openxmlformats.org/drawingml/2006/main">
            <a:r>
              <a:t/>
            </a:r>
          </a:p>
          <a:p xmlns:a="http://schemas.openxmlformats.org/drawingml/2006/main">
            <a:r>
              <a:t>Fuentes: Informe revisado de Bases de Datos Vectoriales; elaboración propia.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1 · 1:20</a:t>
            </a:r>
          </a:p>
          <a:p xmlns:a="http://schemas.openxmlformats.org/drawingml/2006/main">
            <a:r>
              <a:t/>
            </a:r>
          </a:p>
          <a:p xmlns:a="http://schemas.openxmlformats.org/drawingml/2006/main">
            <a:r>
              <a:t>Una coincidencia literal depende de las palabras escritas. Si busco automóvil, un texto que sólo dice coche puede quedar fuera de una comparación literal. Los motores de texto pueden mejorar eso con sinónimos y otros recursos: no son simplemente igualdad de cadenas. Una recuperación semántica representa el contenido de otra manera para relacionar expresiones.</a:t>
            </a:r>
          </a:p>
          <a:p xmlns:a="http://schemas.openxmlformats.org/drawingml/2006/main">
            <a:r>
              <a:t>En el buscador, una persona pide un delantero con regate y desborde. Esa frase expresa una intención; la posición y los valores mínimos pueden requerir controles exactos. Desde el comienzo hay que separar parecido y cumplimiento.</a:t>
            </a:r>
          </a:p>
          <a:p xmlns:a="http://schemas.openxmlformats.org/drawingml/2006/main">
            <a:r>
              <a:t>TRANSICIÓN. ¿Qué agrega una base vectorial para resolver esta clase de consulta?</a:t>
            </a:r>
          </a:p>
          <a:p xmlns:a="http://schemas.openxmlformats.org/drawingml/2006/main">
            <a:r>
              <a:t/>
            </a:r>
          </a:p>
          <a:p xmlns:a="http://schemas.openxmlformats.org/drawingml/2006/main">
            <a:r>
              <a:t>Fuentes: Manning et al. (2008). https://nlp.stanford.edu/IR-book/</a:t>
            </a:r>
          </a:p>
          <a:p xmlns:a="http://schemas.openxmlformats.org/drawingml/2006/main">
            <a:r>
              <a:t>Proyecto local: vector_store.py, supplied_data.py, rag_pipeline.py y reranker.py.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1 · 2:00</a:t>
            </a:r>
          </a:p>
          <a:p xmlns:a="http://schemas.openxmlformats.org/drawingml/2006/main">
            <a:r>
              <a:t/>
            </a:r>
          </a:p>
          <a:p xmlns:a="http://schemas.openxmlformats.org/drawingml/2006/main">
            <a:r>
              <a:t>Un registro combina identificador, vector y metadatos; también puede guardar el documento o una referencia. El ID permite reconocerlo. El vector participa en la búsqueda. La metadata permite filtrar. El documento permite verificar e interpretar. No confundir esos cuatro papeles.</a:t>
            </a:r>
          </a:p>
          <a:p xmlns:a="http://schemas.openxmlformats.org/drawingml/2006/main">
            <a:r>
              <a:t>Una base relacional responde muy bien a condiciones, asociaciones e integridad. Una base vectorial recupera cercanía según una métrica. Pueden complementarse; PostgreSQL, por ejemplo, admite la extensión pgvector.</a:t>
            </a:r>
          </a:p>
          <a:p xmlns:a="http://schemas.openxmlformats.org/drawingml/2006/main">
            <a:r>
              <a:t>Además del índice, un gestor administra colecciones, persistencia y operaciones. Las garantías dependen del producto y el despliegue: usar vectores no agrega automáticamente alta disponibilidad.</a:t>
            </a:r>
          </a:p>
          <a:p xmlns:a="http://schemas.openxmlformats.org/drawingml/2006/main">
            <a:r>
              <a:t>PASE AL INTEGRANTE 2. Para entender esa búsqueda necesitamos ver qué representa un vector.</a:t>
            </a:r>
          </a:p>
          <a:p xmlns:a="http://schemas.openxmlformats.org/drawingml/2006/main">
            <a:r>
              <a:t/>
            </a:r>
          </a:p>
          <a:p xmlns:a="http://schemas.openxmlformats.org/drawingml/2006/main">
            <a:r>
              <a:t>Fuentes: Proyecto local: vector_store.py, supplied_data.py, rag_pipeline.py y reranker.py.</a:t>
            </a:r>
          </a:p>
          <a:p xmlns:a="http://schemas.openxmlformats.org/drawingml/2006/main">
            <a:r>
              <a:t>pgvector. https://github.com/pgvector/pgvector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2 · 1:30</a:t>
            </a:r>
          </a:p>
          <a:p xmlns:a="http://schemas.openxmlformats.org/drawingml/2006/main">
            <a:r>
              <a:t/>
            </a:r>
          </a:p>
          <a:p xmlns:a="http://schemas.openxmlformats.org/drawingml/2006/main">
            <a:r>
              <a:t>Un vector es una lista ordenada de números. Un embedding es una representación que genera un modelo a partir del contenido. Sus dimensiones no suelen equivaler a atributos humanos como velocidad o regate.</a:t>
            </a:r>
          </a:p>
          <a:p xmlns:a="http://schemas.openxmlformats.org/drawingml/2006/main">
            <a:r>
              <a:t>En nuestro proyecto MiniLM produce 384 componentes. Eso no significa 384 características futbolísticas identificadas. Significa que cada texto se ubica en el espacio de ese modelo. Dos vectores de modelos diferentes no se vuelven comparables sólo por tener la misma longitud.</a:t>
            </a:r>
          </a:p>
          <a:p xmlns:a="http://schemas.openxmlformats.org/drawingml/2006/main">
            <a:r>
              <a:t>Para consultar usamos el mismo modelo de representación que para indexar. Cambiarlo requiere revisar y normalmente reconstruir el índice. El próximo gráfico es un ejemplo geométrico de dos dimensiones, no una proyección real de MiniLM.</a:t>
            </a:r>
          </a:p>
          <a:p xmlns:a="http://schemas.openxmlformats.org/drawingml/2006/main">
            <a:r>
              <a:t/>
            </a:r>
          </a:p>
          <a:p xmlns:a="http://schemas.openxmlformats.org/drawingml/2006/main">
            <a:r>
              <a:t>Fuentes: Reimers y Gurevych (2019). https://arxiv.org/abs/1908.10084</a:t>
            </a:r>
          </a:p>
          <a:p xmlns:a="http://schemas.openxmlformats.org/drawingml/2006/main">
            <a:r>
              <a:t>Sentence Transformers. https://huggingface.co/sentence-transformers/all-MiniLM-L6-v2</a:t>
            </a:r>
          </a:p>
          <a:p xmlns:a="http://schemas.openxmlformats.org/drawingml/2006/main">
            <a:r>
              <a:t>Proyecto local: vector_store.py, supplied_data.py, rag_pipeline.py y reranker.py.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2 · 2:00</a:t>
            </a:r>
          </a:p>
          <a:p xmlns:a="http://schemas.openxmlformats.org/drawingml/2006/main">
            <a:r>
              <a:t/>
            </a:r>
          </a:p>
          <a:p xmlns:a="http://schemas.openxmlformats.org/drawingml/2006/main">
            <a:r>
              <a:t>La similitud coseno compara orientación: producto interno dividido por el producto de las normas. La distancia coseno es uno menos esa similitud. No es una probabilidad.</a:t>
            </a:r>
          </a:p>
          <a:p xmlns:a="http://schemas.openxmlformats.org/drawingml/2006/main">
            <a:r>
              <a:t>ABRIR INTERACCIÓN 1: Vectores y similitud. Mostrar 0 grados: similitud 1 y distancia 0. Pasar a 90 grados: similitud 0 y distancia 1. Pasar a 180 grados: similitud -1 y distancia 2. Mover el control entre estados y explicar que el cambio es continuo. Las flechas son no nulas y unitarias.</a:t>
            </a:r>
          </a:p>
          <a:p xmlns:a="http://schemas.openxmlformats.org/drawingml/2006/main">
            <a:r>
              <a:t>Volver a 90 grados, que coincide con el respaldo de esta diapositiva.</a:t>
            </a:r>
          </a:p>
          <a:p xmlns:a="http://schemas.openxmlformats.org/drawingml/2006/main">
            <a:r>
              <a:t>SI FALLA LA PÁGINA: señalar las flechas de la captura y narrar los otros dos estados.</a:t>
            </a:r>
          </a:p>
          <a:p xmlns:a="http://schemas.openxmlformats.org/drawingml/2006/main">
            <a:r>
              <a:t>TRANSICIÓN. Calcular cercanía entre dos vectores es sólo el primer paso; ahora hay que elegir entre muchos.</a:t>
            </a:r>
          </a:p>
          <a:p xmlns:a="http://schemas.openxmlformats.org/drawingml/2006/main">
            <a:r>
              <a:t/>
            </a:r>
          </a:p>
          <a:p xmlns:a="http://schemas.openxmlformats.org/drawingml/2006/main">
            <a:r>
              <a:t>Fuentes: Informe revisado, secciones 2–4; modelo geométrico de elaboración propia.</a:t>
            </a:r>
          </a:p>
          <a:p xmlns:a="http://schemas.openxmlformats.org/drawingml/2006/main">
            <a:r>
              <a:t>Captura de la interacción local, estado de 90 grados; respaldo estático.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2 · 1:30</a:t>
            </a:r>
          </a:p>
          <a:p xmlns:a="http://schemas.openxmlformats.org/drawingml/2006/main">
            <a:r>
              <a:t/>
            </a:r>
          </a:p>
          <a:p xmlns:a="http://schemas.openxmlformats.org/drawingml/2006/main">
            <a:r>
              <a:t>Top-k significa seleccionar los k vecinos más cercanos según la métrica. Esta comparación de tres perfiles es didáctica y utiliza distancia coseno calculada exactamente.</a:t>
            </a:r>
          </a:p>
          <a:p xmlns:a="http://schemas.openxmlformats.org/drawingml/2006/main">
            <a:r>
              <a:t>La búsqueda exhaustiva compara todos los elegibles; su trabajo crece con cantidad de vectores y dimensión. ANN explora menos candidatos a cambio de posibles omisiones. No son dos nociones de relevancia humana: son dos estrategias para recuperar vecinos en el mismo espacio.</a:t>
            </a:r>
          </a:p>
          <a:p xmlns:a="http://schemas.openxmlformats.org/drawingml/2006/main">
            <a:r>
              <a:t>Una buena recuperación geométrica no demuestra que los candidatos sean los mejores futbolistas. Primero hay que evaluar el embedding; después, si el índice aproxima bien sus vecinos.</a:t>
            </a:r>
          </a:p>
          <a:p xmlns:a="http://schemas.openxmlformats.org/drawingml/2006/main">
            <a:r>
              <a:t>PASE AL INTEGRANTE 3. Vamos a ver una de las estructuras usadas para esa búsqueda aproximada: HNSW.</a:t>
            </a:r>
          </a:p>
          <a:p xmlns:a="http://schemas.openxmlformats.org/drawingml/2006/main">
            <a:r>
              <a:t/>
            </a:r>
          </a:p>
          <a:p xmlns:a="http://schemas.openxmlformats.org/drawingml/2006/main">
            <a:r>
              <a:t>Fuentes: Informe revisado, secciones 2–4; modelo geométrico de elaboración propia.</a:t>
            </a:r>
          </a:p>
          <a:p xmlns:a="http://schemas.openxmlformats.org/drawingml/2006/main">
            <a:r>
              <a:t>Malkov y Yashunin (2020). https://arxiv.org/abs/1603.09320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3 · 2:30</a:t>
            </a:r>
          </a:p>
          <a:p xmlns:a="http://schemas.openxmlformats.org/drawingml/2006/main">
            <a:r>
              <a:t/>
            </a:r>
          </a:p>
          <a:p xmlns:a="http://schemas.openxmlformats.org/drawingml/2006/main">
            <a:r>
              <a:t>HNSW organiza conexiones entre vectores en varios niveles. Los superiores permiten desplazamientos grandes; la capa inferior refina la búsqueda.</a:t>
            </a:r>
          </a:p>
          <a:p xmlns:a="http://schemas.openxmlformats.org/drawingml/2006/main">
            <a:r>
              <a:t>ABRIR INTERACCIÓN 3. Reiniciar y avanzar: A es entrada superior; D queda más cerca de Q; descendemos desde D; exploramos C y F; F mejora al candidato; descendemos desde F; E mejora la distancia a 25; D ya no la mejora.</a:t>
            </a:r>
          </a:p>
          <a:p xmlns:a="http://schemas.openxmlformats.org/drawingml/2006/main">
            <a:r>
              <a:t>Este recorrido usa un grafo fijo y una distancia euclídea simple. No estamos viendo los vectores internos de Chroma. En HNSW real hay listas de candidatos y parámetros como amplitud de exploración y conectividad. Aumentar exploración puede mejorar cobertura y también costo.</a:t>
            </a:r>
          </a:p>
          <a:p xmlns:a="http://schemas.openxmlformats.org/drawingml/2006/main">
            <a:r>
              <a:t>No afirmar que siempre devuelve el vecino exacto. El esquema muestra el mecanismo de navegación, no un benchmark.</a:t>
            </a:r>
          </a:p>
          <a:p xmlns:a="http://schemas.openxmlformats.org/drawingml/2006/main">
            <a:r>
              <a:t>VOLVER A LAS DIAPOSITIVAS. El siguiente paso es combinar vecinos con reglas exactas.</a:t>
            </a:r>
          </a:p>
          <a:p xmlns:a="http://schemas.openxmlformats.org/drawingml/2006/main">
            <a:r>
              <a:t/>
            </a:r>
          </a:p>
          <a:p xmlns:a="http://schemas.openxmlformats.org/drawingml/2006/main">
            <a:r>
              <a:t>Fuentes: Malkov y Yashunin (2020). https://arxiv.org/abs/1603.09320</a:t>
            </a:r>
          </a:p>
          <a:p xmlns:a="http://schemas.openxmlformats.org/drawingml/2006/main">
            <a:r>
              <a:t>Captura del laboratorio didáctico, paso 6 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3 · 2:00</a:t>
            </a:r>
          </a:p>
          <a:p xmlns:a="http://schemas.openxmlformats.org/drawingml/2006/main">
            <a:r>
              <a:t/>
            </a:r>
          </a:p>
          <a:p xmlns:a="http://schemas.openxmlformats.org/drawingml/2006/main">
            <a:r>
              <a:t>Un filtro define quién puede ser candidato; top-k limita cuántos vecinos devolvemos. Pedir joven en el texto no impone una edad máxima.</a:t>
            </a:r>
          </a:p>
          <a:p xmlns:a="http://schemas.openxmlformats.org/drawingml/2006/main">
            <a:r>
              <a:t>ABRIR INTERACCIÓN 2. Reiniciar. Mantener Q=(4,1), posición ST, edad máxima 25 y k=3: quedan A, F y J. Cambiar k a 8: siguen tres, no se inventan candidatos. Elegir GK y edad 18: no queda ninguno. Reiniciar y mover Q para observar cómo cambia el orden.</a:t>
            </a:r>
          </a:p>
          <a:p xmlns:a="http://schemas.openxmlformats.org/drawingml/2006/main">
            <a:r>
              <a:t>La consulta nula no tiene coseno definido: si ambos controles quedan en cero, el módulo pide mover uno. Los símbolos distinguen seleccionados, elegibles y excluidos sin depender sólo del color.</a:t>
            </a:r>
          </a:p>
          <a:p xmlns:a="http://schemas.openxmlformats.org/drawingml/2006/main">
            <a:r>
              <a:t>Esta simulación calcula todos los cosenos; no usa ANN. El proyecto real realiza la consulta en Chroma y luego puede reordenar por atributos.</a:t>
            </a:r>
          </a:p>
          <a:p xmlns:a="http://schemas.openxmlformats.org/drawingml/2006/main">
            <a:r>
              <a:t>VOLVER A LAS DIAPOSITIVAS y conectar con la administración de esos registros.</a:t>
            </a:r>
          </a:p>
          <a:p xmlns:a="http://schemas.openxmlformats.org/drawingml/2006/main">
            <a:r>
              <a:t/>
            </a:r>
          </a:p>
          <a:p xmlns:a="http://schemas.openxmlformats.org/drawingml/2006/main">
            <a:r>
              <a:t>Fuentes: Proyecto local: vector_store.py, supplied_data.py, rag_pipeline.py y reranker.py.</a:t>
            </a:r>
          </a:p>
          <a:p xmlns:a="http://schemas.openxmlformats.org/drawingml/2006/main">
            <a:r>
              <a:t>Captura de perfiles sintéticos: ST, edad máxima 25, k=3.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3 · 1:30</a:t>
            </a:r>
          </a:p>
          <a:p xmlns:a="http://schemas.openxmlformats.org/drawingml/2006/main">
            <a:r>
              <a:t/>
            </a:r>
          </a:p>
          <a:p xmlns:a="http://schemas.openxmlformats.org/drawingml/2006/main">
            <a:r>
              <a:t>Una base vectorial es más que calcular distancias. Hay que poder conservar la colección, relacionarla con una fuente, actualizarla y restaurarla. Identificadores estables no bastan si quedan perfiles obsoletos. El proyecto usa huella del corpus y versión del perfil para detectar incompatibilidades.</a:t>
            </a:r>
          </a:p>
          <a:p xmlns:a="http://schemas.openxmlformats.org/drawingml/2006/main">
            <a:r>
              <a:t>Para estimar componentes float32, multiplicamos N por D por 4 bytes. Con 20.421 vectores y 384 dimensiones son 31,37 MB decimales sólo de componentes. El proceso ocupa más: modelo, grafo, documentos y metadatos.</a:t>
            </a:r>
          </a:p>
          <a:p xmlns:a="http://schemas.openxmlformats.org/drawingml/2006/main">
            <a:r>
              <a:t>Particionar reparte registros; replicar agrega copias. El prototipo local no demuestra ninguna de esas capacidades distribuidas. Esas decisiones dependen del gestor y el despliegue.</a:t>
            </a:r>
          </a:p>
          <a:p xmlns:a="http://schemas.openxmlformats.org/drawingml/2006/main">
            <a:r>
              <a:t>PASE AL INTEGRANTE 4. Veamos cómo se organizan estas responsabilidades en una solución completa.</a:t>
            </a:r>
          </a:p>
          <a:p xmlns:a="http://schemas.openxmlformats.org/drawingml/2006/main">
            <a:r>
              <a:t/>
            </a:r>
          </a:p>
          <a:p xmlns:a="http://schemas.openxmlformats.org/drawingml/2006/main">
            <a:r>
              <a:t>Fuentes: Proyecto local: vector_store.py, supplied_data.py, rag_pipeline.py y reranker.py.</a:t>
            </a:r>
          </a:p>
          <a:p xmlns:a="http://schemas.openxmlformats.org/drawingml/2006/main">
            <a:r>
              <a:t>Chroma. https://cookbook.chromadb.dev/core/collections/</a:t>
            </a:r>
          </a:p>
          <a:p xmlns:a="http://schemas.openxmlformats.org/drawingml/2006/main">
            <a:r>
              <a:t>Cálculo propio: 20.421 × 384 × 4 = 31.366.656 bytes.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4 · 1:40</a:t>
            </a:r>
          </a:p>
          <a:p xmlns:a="http://schemas.openxmlformats.org/drawingml/2006/main">
            <a:r>
              <a:t/>
            </a:r>
          </a:p>
          <a:p xmlns:a="http://schemas.openxmlformats.org/drawingml/2006/main">
            <a:r>
              <a:t>La ingesta ocurre cuando incorporamos o actualizamos fuentes. Validamos, elegimos una unidad de contenido, generamos embeddings y los guardamos. En documentos largos se fragmenta; en nuestro caso principal se construye una ficha por entidad del snapshot. No extraemos reglamentos PDF.</a:t>
            </a:r>
          </a:p>
          <a:p xmlns:a="http://schemas.openxmlformats.org/drawingml/2006/main">
            <a:r>
              <a:t>La consulta valida el pedido, genera su embedding, aplica filtros, recupera vecinos y selecciona la evidencia. El modelo de representación debe ser compatible en ambos caminos. La persistencia evita repetir la ingesta en cada búsqueda.</a:t>
            </a:r>
          </a:p>
          <a:p xmlns:a="http://schemas.openxmlformats.org/drawingml/2006/main">
            <a:r>
              <a:t>Para diagnosticar rendimiento separamos embedding y API de consulta. collection.query incluye filtros y lectura de datos, no sólo navegación del grafo. Reordenamiento y generación son etapas adicionales.</a:t>
            </a:r>
          </a:p>
          <a:p xmlns:a="http://schemas.openxmlformats.org/drawingml/2006/main">
            <a:r>
              <a:t/>
            </a:r>
          </a:p>
          <a:p xmlns:a="http://schemas.openxmlformats.org/drawingml/2006/main">
            <a:r>
              <a:t>Fuentes: Proyecto local: vector_store.py, supplied_data.py, rag_pipeline.py y reranker.py.</a:t>
            </a:r>
          </a:p>
          <a:p xmlns:a="http://schemas.openxmlformats.org/drawingml/2006/main">
            <a:r>
              <a:t>Chroma. https://cookbook.chromadb.dev/core/collections/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4 · 1:40</a:t>
            </a:r>
          </a:p>
          <a:p xmlns:a="http://schemas.openxmlformats.org/drawingml/2006/main">
            <a:r>
              <a:t/>
            </a:r>
          </a:p>
          <a:p xmlns:a="http://schemas.openxmlformats.org/drawingml/2006/main">
            <a:r>
              <a:t>Chroma es la base usada en este proyecto. Qdrant es otra alternativa especializada. pgvector permite integrar vectores en PostgreSQL. Elegir depende de infraestructura, filtros, volumen, personal y controles, no sólo de una lista de funcionalidades.</a:t>
            </a:r>
          </a:p>
          <a:p xmlns:a="http://schemas.openxmlformats.org/drawingml/2006/main">
            <a:r>
              <a:t>Las aplicaciones incluyen búsquedas, recomendaciones, detección de contenido parecido y RAG. Tres casos permiten distinguir funciones: LinkedIn estudia cómo conservar relaciones mediante grafos de conocimiento; DoorDash agrega control de calidad de respuestas; Spotify desarrolla Voyager para vecinos próximos sin exigir generación.</a:t>
            </a:r>
          </a:p>
          <a:p xmlns:a="http://schemas.openxmlformats.org/drawingml/2006/main">
            <a:r>
              <a:t>No trasladamos las métricas de esas empresas a nuestro buscador. Tampoco una biblioteca como Voyager reemplaza por sí sola todas las funciones de un gestor.</a:t>
            </a:r>
          </a:p>
          <a:p xmlns:a="http://schemas.openxmlformats.org/drawingml/2006/main">
            <a:r>
              <a:t>TRANSICIÓN. Ahora podemos ubicar la base vectorial dentro de RAG sin confundir los dos conceptos.</a:t>
            </a:r>
          </a:p>
          <a:p xmlns:a="http://schemas.openxmlformats.org/drawingml/2006/main">
            <a:r>
              <a:t/>
            </a:r>
          </a:p>
          <a:p xmlns:a="http://schemas.openxmlformats.org/drawingml/2006/main">
            <a:r>
              <a:t>Fuentes: Chroma: https://docs.trychroma.com/</a:t>
            </a:r>
          </a:p>
          <a:p xmlns:a="http://schemas.openxmlformats.org/drawingml/2006/main">
            <a:r>
              <a:t>Qdrant: https://qdrant.tech/documentation/</a:t>
            </a:r>
          </a:p>
          <a:p xmlns:a="http://schemas.openxmlformats.org/drawingml/2006/main">
            <a:r>
              <a:t>pgvector: https://github.com/pgvector/pgvector</a:t>
            </a:r>
          </a:p>
          <a:p xmlns:a="http://schemas.openxmlformats.org/drawingml/2006/main">
            <a:r>
              <a:t>Xu et al. (2024): https://arxiv.org/abs/2404.17723</a:t>
            </a:r>
          </a:p>
          <a:p xmlns:a="http://schemas.openxmlformats.org/drawingml/2006/main">
            <a:r>
              <a:t>Jia et al. (2024): https://careersatdoordash.com/blog/large-language-modules-based-dasher-support-automation/</a:t>
            </a:r>
          </a:p>
          <a:p xmlns:a="http://schemas.openxmlformats.org/drawingml/2006/main">
            <a:r>
              <a:t>Spotify: https://github.com/spotify/voyager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4 · 1:40</a:t>
            </a:r>
          </a:p>
          <a:p xmlns:a="http://schemas.openxmlformats.org/drawingml/2006/main">
            <a:r>
              <a:t/>
            </a:r>
          </a:p>
          <a:p xmlns:a="http://schemas.openxmlformats.org/drawingml/2006/main">
            <a:r>
              <a:t>RAG combina recuperación con generación. El recuperador selecciona evidencia externa y el generador la recibe en el contexto. Esa recuperación puede ser vectorial, léxica o combinada.</a:t>
            </a:r>
          </a:p>
          <a:p xmlns:a="http://schemas.openxmlformats.org/drawingml/2006/main">
            <a:r>
              <a:t>El LLM no lee automáticamente toda la base. Sólo recibe el material que le enviamos. Por eso puede responder con contexto insuficiente, interpretar mal una ficha o agregar información no sustentada. Pedirle que cite no es una validación automática.</a:t>
            </a:r>
          </a:p>
          <a:p xmlns:a="http://schemas.openxmlformats.org/drawingml/2006/main">
            <a:r>
              <a:t>Sin generador, nuestro sistema sigue siendo un buscador vectorial con reordenamiento. Con generador, puede producir una comparación apoyada en perfiles. Si usamos una API remota, consulta y perfiles seleccionados salen del equipo aunque los embeddings sean locales.</a:t>
            </a:r>
          </a:p>
          <a:p xmlns:a="http://schemas.openxmlformats.org/drawingml/2006/main">
            <a:r>
              <a:t>PASE AL INTEGRANTE 5. Ahora mostramos qué implementamos realmente y qué se puede verificar en la aplicación.</a:t>
            </a:r>
          </a:p>
          <a:p xmlns:a="http://schemas.openxmlformats.org/drawingml/2006/main">
            <a:r>
              <a:t/>
            </a:r>
          </a:p>
          <a:p xmlns:a="http://schemas.openxmlformats.org/drawingml/2006/main">
            <a:r>
              <a:t>Fuentes: Lewis et al. (2020). https://arxiv.org/abs/2005.11401</a:t>
            </a:r>
          </a:p>
          <a:p xmlns:a="http://schemas.openxmlformats.org/drawingml/2006/main">
            <a:r>
              <a:t>Proyecto local: vector_store.py, supplied_data.py, rag_pipeline.py y reranker.py.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5 · 1:20</a:t>
            </a:r>
          </a:p>
          <a:p xmlns:a="http://schemas.openxmlformats.org/drawingml/2006/main">
            <a:r>
              <a:t/>
            </a:r>
          </a:p>
          <a:p xmlns:a="http://schemas.openxmlformats.org/drawingml/2006/main">
            <a:r>
              <a:t>El caso usa Python, Streamlit, Chroma y MiniLM local. La colección principal contiene 20.421 fichas: 18.350 jugadores, 702 equipos y 1.369 técnicos. Son datos de FIFA/EA FC edición 24, actualización 2, fechados el 22 de septiembre de 2023. No son estadísticas oficiales de partidos ni planteles actuales.</a:t>
            </a:r>
          </a:p>
          <a:p xmlns:a="http://schemas.openxmlformats.org/drawingml/2006/main">
            <a:r>
              <a:t>Primero se recupera un pool de vecinos, con un límite de 5.000. Si la consulta reconoce atributos, se reordena por percentiles; los empates usan valoraciones originales y luego similitud. Para regate no confiamos en que un embedding compare números.</a:t>
            </a:r>
          </a:p>
          <a:p xmlns:a="http://schemas.openxmlformats.org/drawingml/2006/main">
            <a:r>
              <a:t>El filtro de posición puede hacer que el pool cubra todos los elegibles. Sin ese filtro puede quedar cobertura parcial. Esto limita quién llega al ranking final.</a:t>
            </a:r>
          </a:p>
          <a:p xmlns:a="http://schemas.openxmlformats.org/drawingml/2006/main">
            <a:r>
              <a:t/>
            </a:r>
          </a:p>
          <a:p xmlns:a="http://schemas.openxmlformats.org/drawingml/2006/main">
            <a:r>
              <a:t>Fuentes: Proyecto local: vector_store.py, supplied_data.py, rag_pipeline.py y reranker.py.</a:t>
            </a:r>
          </a:p>
          <a:p xmlns:a="http://schemas.openxmlformats.org/drawingml/2006/main">
            <a:r>
              <a:t>data/supplied/manifest.json</a:t>
            </a:r>
          </a:p>
          <a:p xmlns:a="http://schemas.openxmlformats.org/drawingml/2006/main">
            <a:r>
              <a:t>output/pdf/evidencia_busqueda.json; consulta registrada el 12/09/2026, sin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5 · 3:20</a:t>
            </a:r>
          </a:p>
          <a:p xmlns:a="http://schemas.openxmlformats.org/drawingml/2006/main">
            <a:r>
              <a:t/>
            </a:r>
          </a:p>
          <a:p xmlns:a="http://schemas.openxmlformats.org/drawingml/2006/main">
            <a:r>
              <a:t>ABRIR EL BUSCADOR desde el botón del laboratorio. Seleccionar CSV del usuario, activar el buscador, entidad player, posición ST, cinco resultados, generador none y reordenamiento activo. Dejar edad sin límite, liga Todas y regate mínimo cero. Consultar Delantero con regate y desborde.</a:t>
            </a:r>
          </a:p>
          <a:p xmlns:a="http://schemas.openxmlformats.org/drawingml/2006/main">
            <a:r>
              <a:t>Mostrar colección y dimensión. Abrir Ordenamiento aplicado: la consulta reconoce dribbling y el pool cubre los 3.194 elegibles. Identificar distancia y ajuste por atributos. Mbappé puede estar primero aunque Griezmann tenga menor distancia coseno: el ranking final depende de regate.</a:t>
            </a:r>
          </a:p>
          <a:p xmlns:a="http://schemas.openxmlformats.org/drawingml/2006/main">
            <a:r>
              <a:t>Desactivar reordenamiento y repetir la misma consulta para mostrar la diferencia de criterio, sin prometer un listado específico. Volver a activarlo. No activar un proveedor remoto durante la demo si no se ensayó.</a:t>
            </a:r>
          </a:p>
          <a:p xmlns:a="http://schemas.openxmlformats.org/drawingml/2006/main">
            <a:r>
              <a:t>RESPALDO: esta tabla conserva una consulta registrada el 12/09/2026. Si el equipo tarda, usarla y aclarar que no es una ejecución en vivo. No atribuirle las métricas del antiguo ejemplo de normativa universitaria.</a:t>
            </a:r>
          </a:p>
          <a:p xmlns:a="http://schemas.openxmlformats.org/drawingml/2006/main">
            <a:r>
              <a:t/>
            </a:r>
          </a:p>
          <a:p xmlns:a="http://schemas.openxmlformats.org/drawingml/2006/main">
            <a:r>
              <a:t>Fuentes: output/pdf/evidencia_busqueda.json; consulta registrada el 12/09/2026, sin LLM.</a:t>
            </a:r>
          </a:p>
          <a:p xmlns:a="http://schemas.openxmlformats.org/drawingml/2006/main">
            <a:r>
              <a:t>Proyecto local: vector_store.py, supplied_data.py, rag_pipeline.py y reranker.py.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 5 · 1:20</a:t>
            </a:r>
          </a:p>
          <a:p xmlns:a="http://schemas.openxmlformats.org/drawingml/2006/main">
            <a:r>
              <a:t/>
            </a:r>
          </a:p>
          <a:p xmlns:a="http://schemas.openxmlformats.org/drawingml/2006/main">
            <a:r>
              <a:t>CERRAR CON TRES IDEAS. Primero, los embeddings vuelven comparables las representaciones, pero no garantizan relevancia. Segundo, el índice aproxima vecinos y los filtros verifican condiciones; no son la misma responsabilidad. Tercero, administrar fuentes, modelos, permisos y evaluación es parte de operar la solución.</a:t>
            </a:r>
          </a:p>
          <a:p xmlns:a="http://schemas.openxmlformats.org/drawingml/2006/main">
            <a:r>
              <a:t>Nuestro buscador funciona con recuperación local y ranking por atributos. Su evidencia no demuestra superioridad general frente a SQL ni calidad profesional de scouting. Los datos son históricos, el pool puede limitar cobertura y todavía falta una evaluación etiquetada de relevancia.</a:t>
            </a:r>
          </a:p>
          <a:p xmlns:a="http://schemas.openxmlformats.org/drawingml/2006/main">
            <a:r>
              <a:t>RAG es una aplicación opcional de esa recuperación. Si alguien pregunta por el reporte LLM, mostrar dónde se configura y explicar que esta demostración principal se ejecutó sin generación.</a:t>
            </a:r>
          </a:p>
          <a:p xmlns:a="http://schemas.openxmlformats.org/drawingml/2006/main">
            <a:r>
              <a:t>CIERRE. Podemos verificar cómo funciona el mecanismo y también reconocer hasta dónde llega la evidencia. Abrir preguntas.</a:t>
            </a:r>
          </a:p>
          <a:p xmlns:a="http://schemas.openxmlformats.org/drawingml/2006/main">
            <a:r>
              <a:t/>
            </a:r>
          </a:p>
          <a:p xmlns:a="http://schemas.openxmlformats.org/drawingml/2006/main">
            <a:r>
              <a:t>Fuentes: output/pdf/evidencia_busqueda.json; consulta registrada el 12/09/2026, sin LLM.</a:t>
            </a:r>
          </a:p>
          <a:p xmlns:a="http://schemas.openxmlformats.org/drawingml/2006/main">
            <a:r>
              <a:t>Proyecto local: vector_store.py, supplied_data.py, rag_pipeline.py y reranker.py.</a:t>
            </a:r>
          </a:p>
          <a:p xmlns:a="http://schemas.openxmlformats.org/drawingml/2006/main">
            <a:r>
              <a:t>Lewis et al. (2020). 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ba65b714e443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6bbddf93714ea7" /><Relationship Type="http://schemas.openxmlformats.org/officeDocument/2006/relationships/slideLayout" Target="/ppt/slideLayouts/slideLayout1.xml" Id="R9041a5853fd243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41a5853fd243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4290125a6c4fc1" /><Relationship Type="http://schemas.openxmlformats.org/officeDocument/2006/relationships/notesSlide" Target="/ppt/notesSlides/notesSlide1.xml" Id="R92987fd8e61347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d20482977c49d3" /><Relationship Type="http://schemas.openxmlformats.org/officeDocument/2006/relationships/notesSlide" Target="/ppt/notesSlides/notesSlide2.xml" Id="Rb5a69318d5e740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dc36baa60e46e1" /><Relationship Type="http://schemas.openxmlformats.org/officeDocument/2006/relationships/notesSlide" Target="/ppt/notesSlides/notesSlide3.xml" Id="Rf7b2fd9371584a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88a77e05c94b7b" /><Relationship Type="http://schemas.openxmlformats.org/officeDocument/2006/relationships/notesSlide" Target="/ppt/notesSlides/notesSlide4.xml" Id="R55191097899c4a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3f2e62e92345c1" /><Relationship Type="http://schemas.openxmlformats.org/officeDocument/2006/relationships/image" Target="/ppt/media/image.jpeg" Id="Ra76d9fd88e984c45" /><Relationship Type="http://schemas.openxmlformats.org/officeDocument/2006/relationships/notesSlide" Target="/ppt/notesSlides/notesSlide5.xml" Id="Rf6cadc3fccfc4a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d26342b14241f9" /><Relationship Type="http://schemas.openxmlformats.org/officeDocument/2006/relationships/chart" Target="/ppt/slides/charts/chart1.xml" Id="Re49689c0c6424011" /><Relationship Type="http://schemas.openxmlformats.org/officeDocument/2006/relationships/notesSlide" Target="/ppt/notesSlides/notesSlide6.xml" Id="R24ed3224d0bb4d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443f2657694e8f" /><Relationship Type="http://schemas.openxmlformats.org/officeDocument/2006/relationships/image" Target="/ppt/media/image2.jpeg" Id="R6bdccf1085154fcc" /><Relationship Type="http://schemas.openxmlformats.org/officeDocument/2006/relationships/notesSlide" Target="/ppt/notesSlides/notesSlide7.xml" Id="R18a5061ccb744b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64f0facf5e4404" /><Relationship Type="http://schemas.openxmlformats.org/officeDocument/2006/relationships/image" Target="/ppt/media/image3.jpeg" Id="Re4353319e9d64605" /><Relationship Type="http://schemas.openxmlformats.org/officeDocument/2006/relationships/notesSlide" Target="/ppt/notesSlides/notesSlide8.xml" Id="Rcd69a2e590a940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6bed44522146ff" /><Relationship Type="http://schemas.openxmlformats.org/officeDocument/2006/relationships/notesSlide" Target="/ppt/notesSlides/notesSlide9.xml" Id="Ra05c136ffa8842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3bdf6cdae14f58" /><Relationship Type="http://schemas.openxmlformats.org/officeDocument/2006/relationships/notesSlide" Target="/ppt/notesSlides/notesSlide10.xml" Id="R22c30809ea6a44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b0e7e7971b24a64" /><Relationship Type="http://schemas.openxmlformats.org/officeDocument/2006/relationships/notesSlide" Target="/ppt/notesSlides/notesSlide11.xml" Id="Rbd180092be7944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93313ca2074451" /><Relationship Type="http://schemas.openxmlformats.org/officeDocument/2006/relationships/notesSlide" Target="/ppt/notesSlides/notesSlide12.xml" Id="Rcaafb0612d8f4e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a12d6695b74485" /><Relationship Type="http://schemas.openxmlformats.org/officeDocument/2006/relationships/notesSlide" Target="/ppt/notesSlides/notesSlide13.xml" Id="R337e666b79294f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1025ffccae14dfc" /><Relationship Type="http://schemas.openxmlformats.org/officeDocument/2006/relationships/notesSlide" Target="/ppt/notesSlides/notesSlide14.xml" Id="R6c8d7725c50149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b2da76c0f9948f9" /><Relationship Type="http://schemas.openxmlformats.org/officeDocument/2006/relationships/notesSlide" Target="/ppt/notesSlides/notesSlide15.xml" Id="R955e3827050645f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Distancia coseno</c:v>
          </c:tx>
          <c:spPr>
            <a:solidFill xmlns:a="http://schemas.openxmlformats.org/drawingml/2006/main">
              <a:srgbClr val="1E62BE"/>
            </a:solidFill>
          </c:spPr>
          <c:cat>
            <c:strRef>
              <c:f>'Chart Data'!$A$2:$A$4</c:f>
              <c:strCache>
                <c:ptCount val="3"/>
                <c:pt idx="0">
                  <c:v>Perfil A</c:v>
                </c:pt>
                <c:pt idx="1">
                  <c:v>Perfil B</c:v>
                </c:pt>
                <c:pt idx="2">
                  <c:v>Perfil F</c:v>
                </c:pt>
              </c:strCache>
            </c:strRef>
          </c:cat>
          <c:val>
            <c:numRef>
              <c:f>'Chart Data'!$B$2:$B$4</c:f>
              <c:numCache>
                <c:formatCode>General</c:formatCode>
                <c:ptCount val="3"/>
                <c:pt idx="0">
                  <c:v>0</c:v>
                </c:pt>
                <c:pt idx="1">
                  <c:v>0.086</c:v>
                </c:pt>
                <c:pt idx="2">
                  <c:v>0.189</c:v>
                </c:pt>
              </c:numCache>
            </c:numRef>
          </c:val>
        </c:ser>
        <c:dLbls>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01 / 15">
            <a:extLst xmlns:a="http://schemas.openxmlformats.org/drawingml/2006/main">
              <a:ext uri="{FF2B5EF4-FFF2-40B4-BE49-F238E27FC236}">
                <a16:creationId xmlns:a16="http://schemas.microsoft.com/office/drawing/2014/main" id="{575E8BC5-7E41-4E47-BCD7-2A7069866F7E}"/>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01 / 15</a:t>
            </a:r>
          </a:p>
        </p:txBody>
      </p:sp>
      <p:sp>
        <p:nvSpPr>
          <p:cNvPr id="2" name="BASES DE DATOS VECTORIALES · ASI 2026">
            <a:extLst xmlns:a="http://schemas.openxmlformats.org/drawingml/2006/main">
              <a:ext uri="{FF2B5EF4-FFF2-40B4-BE49-F238E27FC236}">
                <a16:creationId xmlns:a16="http://schemas.microsoft.com/office/drawing/2014/main" id="{23DC3886-D25D-4281-8BCA-1773E0294CE7}"/>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sp>
        <p:nvSpPr>
          <p:cNvPr id="3" name="Bases de datos&#10;vectoriales">
            <a:extLst xmlns:a="http://schemas.openxmlformats.org/drawingml/2006/main">
              <a:ext uri="{FF2B5EF4-FFF2-40B4-BE49-F238E27FC236}">
                <a16:creationId xmlns:a16="http://schemas.microsoft.com/office/drawing/2014/main" id="{D8D9B8E1-8C39-44AC-9111-00315ACAB32C}"/>
              </a:ext>
            </a:extLst>
          </p:cNvPr>
          <p:cNvSpPr>
            <a:spLocks xmlns:a="http://schemas.openxmlformats.org/drawingml/2006/main" noGrp="1"/>
          </p:cNvSpPr>
          <p:nvPr/>
        </p:nvSpPr>
        <p:spPr>
          <a:xfrm xmlns:a="http://schemas.openxmlformats.org/drawingml/2006/main">
            <a:off x="609600" y="1352550"/>
            <a:ext cx="10287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132B41"/>
                </a:solidFill>
                <a:latin typeface="Arial"/>
                <a:ea typeface="Arial"/>
                <a:cs typeface="Arial"/>
              </a:defRPr>
            </a:pPr>
            <a:r>
              <a:rPr sz="5850" b="1">
                <a:solidFill>
                  <a:srgbClr val="132B41"/>
                </a:solidFill>
                <a:latin typeface="Arial"/>
                <a:ea typeface="Arial"/>
                <a:cs typeface="Arial"/>
              </a:rPr>
              <a:t>Bases de datos</a:t>
            </a:r>
          </a:p>
          <a:p xmlns:a="http://schemas.openxmlformats.org/drawingml/2006/main">
            <a:pPr>
              <a:defRPr sz="5850" b="1">
                <a:solidFill>
                  <a:srgbClr val="132B41"/>
                </a:solidFill>
                <a:latin typeface="Arial"/>
                <a:ea typeface="Arial"/>
                <a:cs typeface="Arial"/>
              </a:defRPr>
            </a:pPr>
            <a:r>
              <a:rPr sz="5850" b="1">
                <a:solidFill>
                  <a:srgbClr val="132B41"/>
                </a:solidFill>
                <a:latin typeface="Arial"/>
                <a:ea typeface="Arial"/>
                <a:cs typeface="Arial"/>
              </a:rPr>
              <a:t>vectoriales</a:t>
            </a:r>
          </a:p>
        </p:txBody>
      </p:sp>
      <p:sp>
        <p:nvSpPr>
          <p:cNvPr id="4" name="Fundamentos, búsqueda y administración">
            <a:extLst xmlns:a="http://schemas.openxmlformats.org/drawingml/2006/main">
              <a:ext uri="{FF2B5EF4-FFF2-40B4-BE49-F238E27FC236}">
                <a16:creationId xmlns:a16="http://schemas.microsoft.com/office/drawing/2014/main" id="{771AA5C8-DE15-4312-BF12-EB5120D2F3F2}"/>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E62BE"/>
                </a:solidFill>
                <a:latin typeface="Arial"/>
                <a:ea typeface="Arial"/>
                <a:cs typeface="Arial"/>
              </a:defRPr>
            </a:pPr>
            <a:r>
              <a:rPr sz="2625" b="0">
                <a:solidFill>
                  <a:srgbClr val="1E62BE"/>
                </a:solidFill>
                <a:latin typeface="Arial"/>
                <a:ea typeface="Arial"/>
                <a:cs typeface="Arial"/>
              </a:rPr>
              <a:t>Fundamentos, búsqueda y administración</a:t>
            </a:r>
          </a:p>
        </p:txBody>
      </p:sp>
      <p:sp>
        <p:nvSpPr>
          <p:cNvPr id="5" name="Caso práctico: buscador de jugadores de fútbol">
            <a:extLst xmlns:a="http://schemas.openxmlformats.org/drawingml/2006/main">
              <a:ext uri="{FF2B5EF4-FFF2-40B4-BE49-F238E27FC236}">
                <a16:creationId xmlns:a16="http://schemas.microsoft.com/office/drawing/2014/main" id="{C214E63F-DAB5-4A81-A899-8BB471DF6540}"/>
              </a:ext>
            </a:extLst>
          </p:cNvPr>
          <p:cNvSpPr>
            <a:spLocks xmlns:a="http://schemas.openxmlformats.org/drawingml/2006/main" noGrp="1"/>
          </p:cNvSpPr>
          <p:nvPr/>
        </p:nvSpPr>
        <p:spPr>
          <a:xfrm xmlns:a="http://schemas.openxmlformats.org/drawingml/2006/main">
            <a:off x="647700" y="423862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41"/>
                </a:solidFill>
                <a:latin typeface="Arial"/>
                <a:ea typeface="Arial"/>
                <a:cs typeface="Arial"/>
              </a:defRPr>
            </a:pPr>
            <a:r>
              <a:rPr sz="2175" b="0">
                <a:solidFill>
                  <a:srgbClr val="132B41"/>
                </a:solidFill>
                <a:latin typeface="Arial"/>
                <a:ea typeface="Arial"/>
                <a:cs typeface="Arial"/>
              </a:rPr>
              <a:t>Caso práctico: buscador de jugadores de fútbol</a:t>
            </a:r>
          </a:p>
        </p:txBody>
      </p:sp>
      <p:sp>
        <p:nvSpPr>
          <p:cNvPr id="6" name="UTN · Facultad Regional La Plata&#10;Administración de Sist">
            <a:extLst xmlns:a="http://schemas.openxmlformats.org/drawingml/2006/main">
              <a:ext uri="{FF2B5EF4-FFF2-40B4-BE49-F238E27FC236}">
                <a16:creationId xmlns:a16="http://schemas.microsoft.com/office/drawing/2014/main" id="{74F39044-E3FB-4367-AF10-EF463E79DEED}"/>
              </a:ext>
            </a:extLst>
          </p:cNvPr>
          <p:cNvSpPr>
            <a:spLocks xmlns:a="http://schemas.openxmlformats.org/drawingml/2006/main" noGrp="1"/>
          </p:cNvSpPr>
          <p:nvPr/>
        </p:nvSpPr>
        <p:spPr>
          <a:xfrm xmlns:a="http://schemas.openxmlformats.org/drawingml/2006/main">
            <a:off x="647700" y="52387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476"/>
                </a:solidFill>
                <a:latin typeface="Arial"/>
                <a:ea typeface="Arial"/>
                <a:cs typeface="Arial"/>
              </a:defRPr>
            </a:pPr>
            <a:r>
              <a:rPr sz="1725" b="0">
                <a:solidFill>
                  <a:srgbClr val="526476"/>
                </a:solidFill>
                <a:latin typeface="Arial"/>
                <a:ea typeface="Arial"/>
                <a:cs typeface="Arial"/>
              </a:rPr>
              <a:t>UTN · Facultad Regional La Plata</a:t>
            </a:r>
          </a:p>
          <a:p xmlns:a="http://schemas.openxmlformats.org/drawingml/2006/main">
            <a:pPr>
              <a:defRPr sz="1725" b="0">
                <a:solidFill>
                  <a:srgbClr val="526476"/>
                </a:solidFill>
                <a:latin typeface="Arial"/>
                <a:ea typeface="Arial"/>
                <a:cs typeface="Arial"/>
              </a:defRPr>
            </a:pPr>
            <a:r>
              <a:rPr sz="1725" b="0">
                <a:solidFill>
                  <a:srgbClr val="526476"/>
                </a:solidFill>
                <a:latin typeface="Arial"/>
                <a:ea typeface="Arial"/>
                <a:cs typeface="Arial"/>
              </a:rPr>
              <a:t>Administración de Sistemas de Información · 2026</a:t>
            </a:r>
          </a:p>
        </p:txBody>
      </p:sp>
    </p:spTree>
    <p:extLst>
      <p:ext uri="{BB962C8B-B14F-4D97-AF65-F5344CB8AC3E}">
        <p14:creationId xmlns:p14="http://schemas.microsoft.com/office/powerpoint/2010/main" val="4339203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l problema de encontrar información">
            <a:extLst xmlns:a="http://schemas.openxmlformats.org/drawingml/2006/main">
              <a:ext uri="{FF2B5EF4-FFF2-40B4-BE49-F238E27FC236}">
                <a16:creationId xmlns:a16="http://schemas.microsoft.com/office/drawing/2014/main" id="{25A21306-F7EF-4494-8B77-B27AB2E2DCD0}"/>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El problema de encontrar información</a:t>
            </a:r>
          </a:p>
        </p:txBody>
      </p:sp>
      <p:sp>
        <p:nvSpPr>
          <p:cNvPr id="2" name="02 / 15">
            <a:extLst xmlns:a="http://schemas.openxmlformats.org/drawingml/2006/main">
              <a:ext uri="{FF2B5EF4-FFF2-40B4-BE49-F238E27FC236}">
                <a16:creationId xmlns:a16="http://schemas.microsoft.com/office/drawing/2014/main" id="{711AEEAE-CEA9-4813-A3E3-F757B2A1F717}"/>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02 / 15</a:t>
            </a:r>
          </a:p>
        </p:txBody>
      </p:sp>
      <p:sp>
        <p:nvSpPr>
          <p:cNvPr id="3" name="BASES DE DATOS VECTORIALES · ASI 2026">
            <a:extLst xmlns:a="http://schemas.openxmlformats.org/drawingml/2006/main">
              <a:ext uri="{FF2B5EF4-FFF2-40B4-BE49-F238E27FC236}">
                <a16:creationId xmlns:a16="http://schemas.microsoft.com/office/drawing/2014/main" id="{E56DDEA4-FB96-419F-8962-BDE62C777560}"/>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sp>
        <p:nvSpPr>
          <p:cNvPr id="4" name="Consulta">
            <a:extLst xmlns:a="http://schemas.openxmlformats.org/drawingml/2006/main">
              <a:ext uri="{FF2B5EF4-FFF2-40B4-BE49-F238E27FC236}">
                <a16:creationId xmlns:a16="http://schemas.microsoft.com/office/drawing/2014/main" id="{5B266350-ACFA-4436-90B0-1CCE4D97E414}"/>
              </a:ext>
            </a:extLst>
          </p:cNvPr>
          <p:cNvSpPr>
            <a:spLocks xmlns:a="http://schemas.openxmlformats.org/drawingml/2006/main" noGrp="1"/>
          </p:cNvSpPr>
          <p:nvPr/>
        </p:nvSpPr>
        <p:spPr>
          <a:xfrm xmlns:a="http://schemas.openxmlformats.org/drawingml/2006/main">
            <a:off x="609600" y="16478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476"/>
                </a:solidFill>
                <a:latin typeface="Arial"/>
                <a:ea typeface="Arial"/>
                <a:cs typeface="Arial"/>
              </a:defRPr>
            </a:pPr>
            <a:r>
              <a:rPr sz="1875" b="0">
                <a:solidFill>
                  <a:srgbClr val="526476"/>
                </a:solidFill>
                <a:latin typeface="Arial"/>
                <a:ea typeface="Arial"/>
                <a:cs typeface="Arial"/>
              </a:rPr>
              <a:t>Consulta</a:t>
            </a:r>
          </a:p>
        </p:txBody>
      </p:sp>
      <p:sp>
        <p:nvSpPr>
          <p:cNvPr id="5" name="«automóvil»">
            <a:extLst xmlns:a="http://schemas.openxmlformats.org/drawingml/2006/main">
              <a:ext uri="{FF2B5EF4-FFF2-40B4-BE49-F238E27FC236}">
                <a16:creationId xmlns:a16="http://schemas.microsoft.com/office/drawing/2014/main" id="{4CEE021C-BEAF-4D7B-B83A-70DB574ED4EF}"/>
              </a:ext>
            </a:extLst>
          </p:cNvPr>
          <p:cNvSpPr>
            <a:spLocks xmlns:a="http://schemas.openxmlformats.org/drawingml/2006/main" noGrp="1"/>
          </p:cNvSpPr>
          <p:nvPr/>
        </p:nvSpPr>
        <p:spPr>
          <a:xfrm xmlns:a="http://schemas.openxmlformats.org/drawingml/2006/main">
            <a:off x="609600" y="226695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E62BE"/>
                </a:solidFill>
                <a:latin typeface="Arial"/>
                <a:ea typeface="Arial"/>
                <a:cs typeface="Arial"/>
              </a:defRPr>
            </a:pPr>
            <a:r>
              <a:rPr sz="4200" b="1">
                <a:solidFill>
                  <a:srgbClr val="1E62BE"/>
                </a:solidFill>
                <a:latin typeface="Arial"/>
                <a:ea typeface="Arial"/>
                <a:cs typeface="Arial"/>
              </a:rPr>
              <a:t>«automóvil»</a:t>
            </a:r>
          </a:p>
        </p:txBody>
      </p:sp>
      <p:sp>
        <p:nvSpPr>
          <p:cNvPr id="6" name="Contenido disponible">
            <a:extLst xmlns:a="http://schemas.openxmlformats.org/drawingml/2006/main">
              <a:ext uri="{FF2B5EF4-FFF2-40B4-BE49-F238E27FC236}">
                <a16:creationId xmlns:a16="http://schemas.microsoft.com/office/drawing/2014/main" id="{31FE1C95-C2C3-4AEB-BBEA-4A742EBD03AF}"/>
              </a:ext>
            </a:extLst>
          </p:cNvPr>
          <p:cNvSpPr>
            <a:spLocks xmlns:a="http://schemas.openxmlformats.org/drawingml/2006/main" noGrp="1"/>
          </p:cNvSpPr>
          <p:nvPr/>
        </p:nvSpPr>
        <p:spPr>
          <a:xfrm xmlns:a="http://schemas.openxmlformats.org/drawingml/2006/main">
            <a:off x="6477000" y="16478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476"/>
                </a:solidFill>
                <a:latin typeface="Arial"/>
                <a:ea typeface="Arial"/>
                <a:cs typeface="Arial"/>
              </a:defRPr>
            </a:pPr>
            <a:r>
              <a:rPr sz="1875" b="0">
                <a:solidFill>
                  <a:srgbClr val="526476"/>
                </a:solidFill>
                <a:latin typeface="Arial"/>
                <a:ea typeface="Arial"/>
                <a:cs typeface="Arial"/>
              </a:rPr>
              <a:t>Contenido disponible</a:t>
            </a:r>
          </a:p>
        </p:txBody>
      </p:sp>
      <p:sp>
        <p:nvSpPr>
          <p:cNvPr id="7" name="«coche»">
            <a:extLst xmlns:a="http://schemas.openxmlformats.org/drawingml/2006/main">
              <a:ext uri="{FF2B5EF4-FFF2-40B4-BE49-F238E27FC236}">
                <a16:creationId xmlns:a16="http://schemas.microsoft.com/office/drawing/2014/main" id="{C2AF0CF7-63A5-4F6E-BF8C-F9C23A9E088B}"/>
              </a:ext>
            </a:extLst>
          </p:cNvPr>
          <p:cNvSpPr>
            <a:spLocks xmlns:a="http://schemas.openxmlformats.org/drawingml/2006/main" noGrp="1"/>
          </p:cNvSpPr>
          <p:nvPr/>
        </p:nvSpPr>
        <p:spPr>
          <a:xfrm xmlns:a="http://schemas.openxmlformats.org/drawingml/2006/main">
            <a:off x="6477000" y="2266950"/>
            <a:ext cx="476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C44D12"/>
                </a:solidFill>
                <a:latin typeface="Arial"/>
                <a:ea typeface="Arial"/>
                <a:cs typeface="Arial"/>
              </a:defRPr>
            </a:pPr>
            <a:r>
              <a:rPr sz="4200" b="1">
                <a:solidFill>
                  <a:srgbClr val="C44D12"/>
                </a:solidFill>
                <a:latin typeface="Arial"/>
                <a:ea typeface="Arial"/>
                <a:cs typeface="Arial"/>
              </a:rPr>
              <a:t>«coche»</a:t>
            </a:r>
          </a:p>
        </p:txBody>
      </p:sp>
      <p:sp>
        <p:nvSpPr>
          <p:cNvPr id="8" name="Coincidencia léxica&#10;Busca términos y sus variantes">
            <a:extLst xmlns:a="http://schemas.openxmlformats.org/drawingml/2006/main">
              <a:ext uri="{FF2B5EF4-FFF2-40B4-BE49-F238E27FC236}">
                <a16:creationId xmlns:a16="http://schemas.microsoft.com/office/drawing/2014/main" id="{6BDBD8D4-24DA-42D1-8277-7B5C9FB15991}"/>
              </a:ext>
            </a:extLst>
          </p:cNvPr>
          <p:cNvSpPr>
            <a:spLocks xmlns:a="http://schemas.openxmlformats.org/drawingml/2006/main" noGrp="1"/>
          </p:cNvSpPr>
          <p:nvPr/>
        </p:nvSpPr>
        <p:spPr>
          <a:xfrm xmlns:a="http://schemas.openxmlformats.org/drawingml/2006/main">
            <a:off x="609600" y="381000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41"/>
                </a:solidFill>
                <a:latin typeface="Arial"/>
                <a:ea typeface="Arial"/>
                <a:cs typeface="Arial"/>
              </a:defRPr>
            </a:pPr>
            <a:r>
              <a:rPr sz="2250" b="0">
                <a:solidFill>
                  <a:srgbClr val="132B41"/>
                </a:solidFill>
                <a:latin typeface="Arial"/>
                <a:ea typeface="Arial"/>
                <a:cs typeface="Arial"/>
              </a:rPr>
              <a:t>Coincidencia léxica</a:t>
            </a:r>
          </a:p>
          <a:p xmlns:a="http://schemas.openxmlformats.org/drawingml/2006/main">
            <a:pPr>
              <a:defRPr sz="2250" b="0">
                <a:solidFill>
                  <a:srgbClr val="132B41"/>
                </a:solidFill>
                <a:latin typeface="Arial"/>
                <a:ea typeface="Arial"/>
                <a:cs typeface="Arial"/>
              </a:defRPr>
            </a:pPr>
            <a:r>
              <a:rPr sz="2250" b="0">
                <a:solidFill>
                  <a:srgbClr val="132B41"/>
                </a:solidFill>
                <a:latin typeface="Arial"/>
                <a:ea typeface="Arial"/>
                <a:cs typeface="Arial"/>
              </a:rPr>
              <a:t>Busca términos y sus variantes</a:t>
            </a:r>
          </a:p>
        </p:txBody>
      </p:sp>
      <p:sp>
        <p:nvSpPr>
          <p:cNvPr id="9" name="Recuperación semántica&#10;Compara representaciones">
            <a:extLst xmlns:a="http://schemas.openxmlformats.org/drawingml/2006/main">
              <a:ext uri="{FF2B5EF4-FFF2-40B4-BE49-F238E27FC236}">
                <a16:creationId xmlns:a16="http://schemas.microsoft.com/office/drawing/2014/main" id="{302A4761-1574-42F1-9A9A-0FDB31DF9F6C}"/>
              </a:ext>
            </a:extLst>
          </p:cNvPr>
          <p:cNvSpPr>
            <a:spLocks xmlns:a="http://schemas.openxmlformats.org/drawingml/2006/main" noGrp="1"/>
          </p:cNvSpPr>
          <p:nvPr/>
        </p:nvSpPr>
        <p:spPr>
          <a:xfrm xmlns:a="http://schemas.openxmlformats.org/drawingml/2006/main">
            <a:off x="6477000" y="38100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41"/>
                </a:solidFill>
                <a:latin typeface="Arial"/>
                <a:ea typeface="Arial"/>
                <a:cs typeface="Arial"/>
              </a:defRPr>
            </a:pPr>
            <a:r>
              <a:rPr sz="2250" b="0">
                <a:solidFill>
                  <a:srgbClr val="132B41"/>
                </a:solidFill>
                <a:latin typeface="Arial"/>
                <a:ea typeface="Arial"/>
                <a:cs typeface="Arial"/>
              </a:rPr>
              <a:t>Recuperación semántica</a:t>
            </a:r>
          </a:p>
          <a:p xmlns:a="http://schemas.openxmlformats.org/drawingml/2006/main">
            <a:pPr>
              <a:defRPr sz="2250" b="0">
                <a:solidFill>
                  <a:srgbClr val="132B41"/>
                </a:solidFill>
                <a:latin typeface="Arial"/>
                <a:ea typeface="Arial"/>
                <a:cs typeface="Arial"/>
              </a:defRPr>
            </a:pPr>
            <a:r>
              <a:rPr sz="2250" b="0">
                <a:solidFill>
                  <a:srgbClr val="132B41"/>
                </a:solidFill>
                <a:latin typeface="Arial"/>
                <a:ea typeface="Arial"/>
                <a:cs typeface="Arial"/>
              </a:rPr>
              <a:t>Compara representaciones</a:t>
            </a:r>
          </a:p>
        </p:txBody>
      </p:sp>
      <p:sp>
        <p:nvSpPr>
          <p:cNvPr id="10" name="La similitud ayuda a encontrar candidatos; las restricc">
            <a:extLst xmlns:a="http://schemas.openxmlformats.org/drawingml/2006/main">
              <a:ext uri="{FF2B5EF4-FFF2-40B4-BE49-F238E27FC236}">
                <a16:creationId xmlns:a16="http://schemas.microsoft.com/office/drawing/2014/main" id="{84CAA110-9FB7-4417-A0D8-781478EA75AA}"/>
              </a:ext>
            </a:extLst>
          </p:cNvPr>
          <p:cNvSpPr>
            <a:spLocks xmlns:a="http://schemas.openxmlformats.org/drawingml/2006/main" noGrp="1"/>
          </p:cNvSpPr>
          <p:nvPr/>
        </p:nvSpPr>
        <p:spPr>
          <a:xfrm xmlns:a="http://schemas.openxmlformats.org/drawingml/2006/main">
            <a:off x="609600" y="5429250"/>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B41"/>
                </a:solidFill>
                <a:latin typeface="Arial"/>
                <a:ea typeface="Arial"/>
                <a:cs typeface="Arial"/>
              </a:defRPr>
            </a:pPr>
            <a:r>
              <a:rPr sz="2175" b="1">
                <a:solidFill>
                  <a:srgbClr val="132B41"/>
                </a:solidFill>
                <a:latin typeface="Arial"/>
                <a:ea typeface="Arial"/>
                <a:cs typeface="Arial"/>
              </a:rPr>
              <a:t>La similitud ayuda a encontrar candidatos; las restricciones verifican requisitos.</a:t>
            </a:r>
          </a:p>
        </p:txBody>
      </p:sp>
    </p:spTree>
    <p:extLst>
      <p:ext uri="{BB962C8B-B14F-4D97-AF65-F5344CB8AC3E}">
        <p14:creationId xmlns:p14="http://schemas.microsoft.com/office/powerpoint/2010/main" val="6475604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Qué almacena una base vectorial">
            <a:extLst xmlns:a="http://schemas.openxmlformats.org/drawingml/2006/main">
              <a:ext uri="{FF2B5EF4-FFF2-40B4-BE49-F238E27FC236}">
                <a16:creationId xmlns:a16="http://schemas.microsoft.com/office/drawing/2014/main" id="{3AF5050E-85CF-48FE-9688-68CFA690F7DC}"/>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Qué almacena una base vectorial</a:t>
            </a:r>
          </a:p>
        </p:txBody>
      </p:sp>
      <p:sp>
        <p:nvSpPr>
          <p:cNvPr id="2" name="03 / 15">
            <a:extLst xmlns:a="http://schemas.openxmlformats.org/drawingml/2006/main">
              <a:ext uri="{FF2B5EF4-FFF2-40B4-BE49-F238E27FC236}">
                <a16:creationId xmlns:a16="http://schemas.microsoft.com/office/drawing/2014/main" id="{245EE8B6-7711-48BC-879D-EE2771BDA7E9}"/>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03 / 15</a:t>
            </a:r>
          </a:p>
        </p:txBody>
      </p:sp>
      <p:sp>
        <p:nvSpPr>
          <p:cNvPr id="3" name="BASES DE DATOS VECTORIALES · ASI 2026">
            <a:extLst xmlns:a="http://schemas.openxmlformats.org/drawingml/2006/main">
              <a:ext uri="{FF2B5EF4-FFF2-40B4-BE49-F238E27FC236}">
                <a16:creationId xmlns:a16="http://schemas.microsoft.com/office/drawing/2014/main" id="{166232C9-5EC2-4F95-A26F-3AAAF665905A}"/>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graphicFrame>
        <p:nvGraphicFramePr>
          <p:cNvPr id="9" name=""/>
          <p:cNvGraphicFramePr/>
          <p:nvPr/>
        </p:nvGraphicFramePr>
        <p:xfrm>
          <a:off xmlns:a="http://schemas.openxmlformats.org/drawingml/2006/main" x="609600" y="1695450"/>
          <a:ext xmlns:a="http://schemas.openxmlformats.org/drawingml/2006/main" cx="10972800" cy="3381375"/>
        </p:xfrm>
        <a:graphic xmlns:a="http://schemas.openxmlformats.org/drawingml/2006/main">
          <a:graphicData uri="http://schemas.openxmlformats.org/drawingml/2006/table">
            <a:tbl>
              <a:tblPr/>
              <a:tblGrid>
                <a:gridCol w="3333750"/>
                <a:gridCol w="7639050"/>
              </a:tblGrid>
              <a:tr h="676275">
                <a:tc>
                  <a:txBody>
                    <a:bodyPr>
                      <a:noAutofit/>
                    </a:bodyPr>
                    <a:lstStyle/>
                    <a:p>
                      <a:r>
                        <a:rPr sz="1875" b="1">
                          <a:solidFill>
                            <a:srgbClr val="FFFFFF"/>
                          </a:solidFill>
                          <a:latin typeface="Arial"/>
                          <a:ea typeface="Arial"/>
                          <a:cs typeface="Arial"/>
                        </a:rPr>
                        <a:t>Parte del registro</a:t>
                      </a:r>
                    </a:p>
                  </a:txBody>
                  <a:tcPr marL="91440" marR="91440" marT="45720" marB="45720">
                    <a:solidFill>
                      <a:srgbClr val="1E62BE"/>
                    </a:solidFill>
                  </a:tcPr>
                </a:tc>
                <a:tc>
                  <a:txBody>
                    <a:bodyPr>
                      <a:noAutofit/>
                    </a:bodyPr>
                    <a:lstStyle/>
                    <a:p>
                      <a:r>
                        <a:rPr sz="1875" b="1">
                          <a:solidFill>
                            <a:srgbClr val="FFFFFF"/>
                          </a:solidFill>
                          <a:latin typeface="Arial"/>
                          <a:ea typeface="Arial"/>
                          <a:cs typeface="Arial"/>
                        </a:rPr>
                        <a:t>Función</a:t>
                      </a:r>
                    </a:p>
                  </a:txBody>
                  <a:tcPr marL="91440" marR="91440" marT="45720" marB="45720">
                    <a:solidFill>
                      <a:srgbClr val="1E62BE"/>
                    </a:solidFill>
                  </a:tcPr>
                </a:tc>
              </a:tr>
              <a:tr h="676275">
                <a:tc>
                  <a:txBody>
                    <a:bodyPr>
                      <a:noAutofit/>
                    </a:bodyPr>
                    <a:lstStyle/>
                    <a:p>
                      <a:r>
                        <a:rPr sz="1875" b="0">
                          <a:solidFill>
                            <a:srgbClr val="132B41"/>
                          </a:solidFill>
                          <a:latin typeface="Arial"/>
                          <a:ea typeface="Arial"/>
                          <a:cs typeface="Arial"/>
                        </a:rPr>
                        <a:t>Identificador</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Reconocer una entidad</a:t>
                      </a:r>
                    </a:p>
                  </a:txBody>
                  <a:tcPr marL="91440" marR="91440" marT="45720" marB="45720">
                    <a:solidFill>
                      <a:srgbClr val="FFFFFF"/>
                    </a:solidFill>
                  </a:tcPr>
                </a:tc>
              </a:tr>
              <a:tr h="676275">
                <a:tc>
                  <a:txBody>
                    <a:bodyPr>
                      <a:noAutofit/>
                    </a:bodyPr>
                    <a:lstStyle/>
                    <a:p>
                      <a:r>
                        <a:rPr sz="1875" b="0">
                          <a:solidFill>
                            <a:srgbClr val="132B41"/>
                          </a:solidFill>
                          <a:latin typeface="Arial"/>
                          <a:ea typeface="Arial"/>
                          <a:cs typeface="Arial"/>
                        </a:rPr>
                        <a:t>Vector</a:t>
                      </a:r>
                    </a:p>
                  </a:txBody>
                  <a:tcPr marL="91440" marR="91440" marT="45720" marB="45720">
                    <a:solidFill>
                      <a:srgbClr val="F3F6FA"/>
                    </a:solidFill>
                  </a:tcPr>
                </a:tc>
                <a:tc>
                  <a:txBody>
                    <a:bodyPr>
                      <a:noAutofit/>
                    </a:bodyPr>
                    <a:lstStyle/>
                    <a:p>
                      <a:r>
                        <a:rPr sz="1875" b="0">
                          <a:solidFill>
                            <a:srgbClr val="132B41"/>
                          </a:solidFill>
                          <a:latin typeface="Arial"/>
                          <a:ea typeface="Arial"/>
                          <a:cs typeface="Arial"/>
                        </a:rPr>
                        <a:t>Buscar por similitud</a:t>
                      </a:r>
                    </a:p>
                  </a:txBody>
                  <a:tcPr marL="91440" marR="91440" marT="45720" marB="45720">
                    <a:solidFill>
                      <a:srgbClr val="F3F6FA"/>
                    </a:solidFill>
                  </a:tcPr>
                </a:tc>
              </a:tr>
              <a:tr h="676275">
                <a:tc>
                  <a:txBody>
                    <a:bodyPr>
                      <a:noAutofit/>
                    </a:bodyPr>
                    <a:lstStyle/>
                    <a:p>
                      <a:r>
                        <a:rPr sz="1875" b="0">
                          <a:solidFill>
                            <a:srgbClr val="132B41"/>
                          </a:solidFill>
                          <a:latin typeface="Arial"/>
                          <a:ea typeface="Arial"/>
                          <a:cs typeface="Arial"/>
                        </a:rPr>
                        <a:t>Metadatos</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Filtrar: posición, edad, liga</a:t>
                      </a:r>
                    </a:p>
                  </a:txBody>
                  <a:tcPr marL="91440" marR="91440" marT="45720" marB="45720">
                    <a:solidFill>
                      <a:srgbClr val="FFFFFF"/>
                    </a:solidFill>
                  </a:tcPr>
                </a:tc>
              </a:tr>
              <a:tr h="676275">
                <a:tc>
                  <a:txBody>
                    <a:bodyPr>
                      <a:noAutofit/>
                    </a:bodyPr>
                    <a:lstStyle/>
                    <a:p>
                      <a:r>
                        <a:rPr sz="1875" b="0">
                          <a:solidFill>
                            <a:srgbClr val="132B41"/>
                          </a:solidFill>
                          <a:latin typeface="Arial"/>
                          <a:ea typeface="Arial"/>
                          <a:cs typeface="Arial"/>
                        </a:rPr>
                        <a:t>Documento o referencia</a:t>
                      </a:r>
                    </a:p>
                  </a:txBody>
                  <a:tcPr marL="91440" marR="91440" marT="45720" marB="45720">
                    <a:solidFill>
                      <a:srgbClr val="F3F6FA"/>
                    </a:solidFill>
                  </a:tcPr>
                </a:tc>
                <a:tc>
                  <a:txBody>
                    <a:bodyPr>
                      <a:noAutofit/>
                    </a:bodyPr>
                    <a:lstStyle/>
                    <a:p>
                      <a:r>
                        <a:rPr sz="1875" b="0">
                          <a:solidFill>
                            <a:srgbClr val="132B41"/>
                          </a:solidFill>
                          <a:latin typeface="Arial"/>
                          <a:ea typeface="Arial"/>
                          <a:cs typeface="Arial"/>
                        </a:rPr>
                        <a:t>Mostrar y verificar evidencia</a:t>
                      </a:r>
                    </a:p>
                  </a:txBody>
                  <a:tcPr marL="91440" marR="91440" marT="45720" marB="45720">
                    <a:solidFill>
                      <a:srgbClr val="F3F6FA"/>
                    </a:solidFill>
                  </a:tcPr>
                </a:tc>
              </a:tr>
            </a:tbl>
          </a:graphicData>
        </a:graphic>
      </p:graphicFrame>
      <p:sp>
        <p:nvSpPr>
          <p:cNvPr id="5" name="Relacional y vectorial se complementan: exactitud de at">
            <a:extLst xmlns:a="http://schemas.openxmlformats.org/drawingml/2006/main">
              <a:ext uri="{FF2B5EF4-FFF2-40B4-BE49-F238E27FC236}">
                <a16:creationId xmlns:a16="http://schemas.microsoft.com/office/drawing/2014/main" id="{A451EED5-D638-4EF5-B5F1-EF024D8C0C00}"/>
              </a:ext>
            </a:extLst>
          </p:cNvPr>
          <p:cNvSpPr>
            <a:spLocks xmlns:a="http://schemas.openxmlformats.org/drawingml/2006/main" noGrp="1"/>
          </p:cNvSpPr>
          <p:nvPr/>
        </p:nvSpPr>
        <p:spPr>
          <a:xfrm xmlns:a="http://schemas.openxmlformats.org/drawingml/2006/main">
            <a:off x="609600" y="5429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E62BE"/>
                </a:solidFill>
                <a:latin typeface="Arial"/>
                <a:ea typeface="Arial"/>
                <a:cs typeface="Arial"/>
              </a:defRPr>
            </a:pPr>
            <a:r>
              <a:rPr sz="2175" b="1">
                <a:solidFill>
                  <a:srgbClr val="1E62BE"/>
                </a:solidFill>
                <a:latin typeface="Arial"/>
                <a:ea typeface="Arial"/>
                <a:cs typeface="Arial"/>
              </a:rPr>
              <a:t>Relacional y vectorial se complementan: exactitud de atributos + similitud.</a:t>
            </a:r>
          </a:p>
        </p:txBody>
      </p:sp>
    </p:spTree>
    <p:extLst>
      <p:ext uri="{BB962C8B-B14F-4D97-AF65-F5344CB8AC3E}">
        <p14:creationId xmlns:p14="http://schemas.microsoft.com/office/powerpoint/2010/main" val="5489103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ectores, embeddings y dimensiones">
            <a:extLst xmlns:a="http://schemas.openxmlformats.org/drawingml/2006/main">
              <a:ext uri="{FF2B5EF4-FFF2-40B4-BE49-F238E27FC236}">
                <a16:creationId xmlns:a16="http://schemas.microsoft.com/office/drawing/2014/main" id="{7E0FFBD0-AA85-4565-A9FF-D7B21D27DBE6}"/>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Vectores, embeddings y dimensiones</a:t>
            </a:r>
          </a:p>
        </p:txBody>
      </p:sp>
      <p:sp>
        <p:nvSpPr>
          <p:cNvPr id="2" name="04 / 15">
            <a:extLst xmlns:a="http://schemas.openxmlformats.org/drawingml/2006/main">
              <a:ext uri="{FF2B5EF4-FFF2-40B4-BE49-F238E27FC236}">
                <a16:creationId xmlns:a16="http://schemas.microsoft.com/office/drawing/2014/main" id="{A6BF9398-3625-4645-84FB-644F98EC8411}"/>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04 / 15</a:t>
            </a:r>
          </a:p>
        </p:txBody>
      </p:sp>
      <p:sp>
        <p:nvSpPr>
          <p:cNvPr id="3" name="BASES DE DATOS VECTORIALES · ASI 2026">
            <a:extLst xmlns:a="http://schemas.openxmlformats.org/drawingml/2006/main">
              <a:ext uri="{FF2B5EF4-FFF2-40B4-BE49-F238E27FC236}">
                <a16:creationId xmlns:a16="http://schemas.microsoft.com/office/drawing/2014/main" id="{C83F3E47-768B-40A5-895E-7A9435AE2D4F}"/>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sp>
        <p:nvSpPr>
          <p:cNvPr id="4" name="Texto del perfil">
            <a:extLst xmlns:a="http://schemas.openxmlformats.org/drawingml/2006/main">
              <a:ext uri="{FF2B5EF4-FFF2-40B4-BE49-F238E27FC236}">
                <a16:creationId xmlns:a16="http://schemas.microsoft.com/office/drawing/2014/main" id="{1E44B22F-D94C-4F9B-AE38-088B7D11F364}"/>
              </a:ext>
            </a:extLst>
          </p:cNvPr>
          <p:cNvSpPr>
            <a:spLocks xmlns:a="http://schemas.openxmlformats.org/drawingml/2006/main" noGrp="1"/>
          </p:cNvSpPr>
          <p:nvPr/>
        </p:nvSpPr>
        <p:spPr>
          <a:xfrm xmlns:a="http://schemas.openxmlformats.org/drawingml/2006/main">
            <a:off x="609600" y="176212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E62BE"/>
                </a:solidFill>
                <a:latin typeface="Arial"/>
                <a:ea typeface="Arial"/>
                <a:cs typeface="Arial"/>
              </a:defRPr>
            </a:pPr>
            <a:r>
              <a:rPr sz="2850" b="1">
                <a:solidFill>
                  <a:srgbClr val="1E62BE"/>
                </a:solidFill>
                <a:latin typeface="Arial"/>
                <a:ea typeface="Arial"/>
                <a:cs typeface="Arial"/>
              </a:rPr>
              <a:t>Texto del perfil</a:t>
            </a:r>
          </a:p>
        </p:txBody>
      </p:sp>
      <p:sp>
        <p:nvSpPr>
          <p:cNvPr id="5" name="«Delantero con regate y desborde»">
            <a:extLst xmlns:a="http://schemas.openxmlformats.org/drawingml/2006/main">
              <a:ext uri="{FF2B5EF4-FFF2-40B4-BE49-F238E27FC236}">
                <a16:creationId xmlns:a16="http://schemas.microsoft.com/office/drawing/2014/main" id="{4E2FD9D1-A52B-45FF-874A-9E20B59523D6}"/>
              </a:ext>
            </a:extLst>
          </p:cNvPr>
          <p:cNvSpPr>
            <a:spLocks xmlns:a="http://schemas.openxmlformats.org/drawingml/2006/main" noGrp="1"/>
          </p:cNvSpPr>
          <p:nvPr/>
        </p:nvSpPr>
        <p:spPr>
          <a:xfrm xmlns:a="http://schemas.openxmlformats.org/drawingml/2006/main">
            <a:off x="609600" y="24098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32B41"/>
                </a:solidFill>
                <a:latin typeface="Arial"/>
                <a:ea typeface="Arial"/>
                <a:cs typeface="Arial"/>
              </a:defRPr>
            </a:pPr>
            <a:r>
              <a:rPr sz="2625" b="0">
                <a:solidFill>
                  <a:srgbClr val="132B41"/>
                </a:solidFill>
                <a:latin typeface="Arial"/>
                <a:ea typeface="Arial"/>
                <a:cs typeface="Arial"/>
              </a:rPr>
              <a:t>«Delantero con regate y desborde»</a:t>
            </a:r>
          </a:p>
        </p:txBody>
      </p:sp>
      <p:sp>
        <p:nvSpPr>
          <p:cNvPr id="6" name="↓  Modelo de embeddings">
            <a:extLst xmlns:a="http://schemas.openxmlformats.org/drawingml/2006/main">
              <a:ext uri="{FF2B5EF4-FFF2-40B4-BE49-F238E27FC236}">
                <a16:creationId xmlns:a16="http://schemas.microsoft.com/office/drawing/2014/main" id="{3F1090C5-51C2-4FB0-BC80-BE0C10227F1E}"/>
              </a:ext>
            </a:extLst>
          </p:cNvPr>
          <p:cNvSpPr>
            <a:spLocks xmlns:a="http://schemas.openxmlformats.org/drawingml/2006/main" noGrp="1"/>
          </p:cNvSpPr>
          <p:nvPr/>
        </p:nvSpPr>
        <p:spPr>
          <a:xfrm xmlns:a="http://schemas.openxmlformats.org/drawingml/2006/main">
            <a:off x="609600" y="3314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526476"/>
                </a:solidFill>
                <a:latin typeface="Arial"/>
                <a:ea typeface="Arial"/>
                <a:cs typeface="Arial"/>
              </a:defRPr>
            </a:pPr>
            <a:r>
              <a:rPr sz="2550" b="0">
                <a:solidFill>
                  <a:srgbClr val="526476"/>
                </a:solidFill>
                <a:latin typeface="Arial"/>
                <a:ea typeface="Arial"/>
                <a:cs typeface="Arial"/>
              </a:rPr>
              <a:t>↓  Modelo de embeddings</a:t>
            </a:r>
          </a:p>
        </p:txBody>
      </p:sp>
      <p:sp>
        <p:nvSpPr>
          <p:cNvPr id="7" name="[0,018, −0,074, 0,109, …]">
            <a:extLst xmlns:a="http://schemas.openxmlformats.org/drawingml/2006/main">
              <a:ext uri="{FF2B5EF4-FFF2-40B4-BE49-F238E27FC236}">
                <a16:creationId xmlns:a16="http://schemas.microsoft.com/office/drawing/2014/main" id="{30611498-FCE8-46BC-B255-918E4045D8C2}"/>
              </a:ext>
            </a:extLst>
          </p:cNvPr>
          <p:cNvSpPr>
            <a:spLocks xmlns:a="http://schemas.openxmlformats.org/drawingml/2006/main" noGrp="1"/>
          </p:cNvSpPr>
          <p:nvPr/>
        </p:nvSpPr>
        <p:spPr>
          <a:xfrm xmlns:a="http://schemas.openxmlformats.org/drawingml/2006/main">
            <a:off x="609600" y="41910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C44D12"/>
                </a:solidFill>
                <a:latin typeface="Arial"/>
                <a:ea typeface="Arial"/>
                <a:cs typeface="Arial"/>
              </a:defRPr>
            </a:pPr>
            <a:r>
              <a:rPr sz="3450" b="1">
                <a:solidFill>
                  <a:srgbClr val="C44D12"/>
                </a:solidFill>
                <a:latin typeface="Arial"/>
                <a:ea typeface="Arial"/>
                <a:cs typeface="Arial"/>
              </a:rPr>
              <a:t>[0,018, −0,074, 0,109, …]</a:t>
            </a:r>
          </a:p>
        </p:txBody>
      </p:sp>
      <p:sp>
        <p:nvSpPr>
          <p:cNvPr id="8" name="384 componentes en MiniLM · números ilustrativos">
            <a:extLst xmlns:a="http://schemas.openxmlformats.org/drawingml/2006/main">
              <a:ext uri="{FF2B5EF4-FFF2-40B4-BE49-F238E27FC236}">
                <a16:creationId xmlns:a16="http://schemas.microsoft.com/office/drawing/2014/main" id="{5299B6DE-7535-4150-8922-1C20EB67D242}"/>
              </a:ext>
            </a:extLst>
          </p:cNvPr>
          <p:cNvSpPr>
            <a:spLocks xmlns:a="http://schemas.openxmlformats.org/drawingml/2006/main" noGrp="1"/>
          </p:cNvSpPr>
          <p:nvPr/>
        </p:nvSpPr>
        <p:spPr>
          <a:xfrm xmlns:a="http://schemas.openxmlformats.org/drawingml/2006/main">
            <a:off x="609600" y="51054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B41"/>
                </a:solidFill>
                <a:latin typeface="Arial"/>
                <a:ea typeface="Arial"/>
                <a:cs typeface="Arial"/>
              </a:defRPr>
            </a:pPr>
            <a:r>
              <a:rPr sz="2100" b="0">
                <a:solidFill>
                  <a:srgbClr val="132B41"/>
                </a:solidFill>
                <a:latin typeface="Arial"/>
                <a:ea typeface="Arial"/>
                <a:cs typeface="Arial"/>
              </a:rPr>
              <a:t>384 componentes en MiniLM · números ilustrativos</a:t>
            </a:r>
          </a:p>
        </p:txBody>
      </p:sp>
      <p:sp>
        <p:nvSpPr>
          <p:cNvPr id="9" name="Mismo modelo para perfiles y consulta">
            <a:extLst xmlns:a="http://schemas.openxmlformats.org/drawingml/2006/main">
              <a:ext uri="{FF2B5EF4-FFF2-40B4-BE49-F238E27FC236}">
                <a16:creationId xmlns:a16="http://schemas.microsoft.com/office/drawing/2014/main" id="{CC7F9C0F-E8B4-46C6-88ED-1185880BD21E}"/>
              </a:ext>
            </a:extLst>
          </p:cNvPr>
          <p:cNvSpPr>
            <a:spLocks xmlns:a="http://schemas.openxmlformats.org/drawingml/2006/main" noGrp="1"/>
          </p:cNvSpPr>
          <p:nvPr/>
        </p:nvSpPr>
        <p:spPr>
          <a:xfrm xmlns:a="http://schemas.openxmlformats.org/drawingml/2006/main">
            <a:off x="609600" y="57150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E62BE"/>
                </a:solidFill>
                <a:latin typeface="Arial"/>
                <a:ea typeface="Arial"/>
                <a:cs typeface="Arial"/>
              </a:defRPr>
            </a:pPr>
            <a:r>
              <a:rPr sz="2100" b="1">
                <a:solidFill>
                  <a:srgbClr val="1E62BE"/>
                </a:solidFill>
                <a:latin typeface="Arial"/>
                <a:ea typeface="Arial"/>
                <a:cs typeface="Arial"/>
              </a:rPr>
              <a:t>Mismo modelo para perfiles y consulta</a:t>
            </a:r>
          </a:p>
        </p:txBody>
      </p:sp>
    </p:spTree>
    <p:extLst>
      <p:ext uri="{BB962C8B-B14F-4D97-AF65-F5344CB8AC3E}">
        <p14:creationId xmlns:p14="http://schemas.microsoft.com/office/powerpoint/2010/main" val="705697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imilitud coseno">
            <a:extLst xmlns:a="http://schemas.openxmlformats.org/drawingml/2006/main">
              <a:ext uri="{FF2B5EF4-FFF2-40B4-BE49-F238E27FC236}">
                <a16:creationId xmlns:a16="http://schemas.microsoft.com/office/drawing/2014/main" id="{8D1DF87B-A9A1-4D2D-9689-5B2082B95A87}"/>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Similitud coseno</a:t>
            </a:r>
          </a:p>
        </p:txBody>
      </p:sp>
      <p:sp>
        <p:nvSpPr>
          <p:cNvPr id="2" name="05 / 15">
            <a:extLst xmlns:a="http://schemas.openxmlformats.org/drawingml/2006/main">
              <a:ext uri="{FF2B5EF4-FFF2-40B4-BE49-F238E27FC236}">
                <a16:creationId xmlns:a16="http://schemas.microsoft.com/office/drawing/2014/main" id="{5CD848FC-0452-4905-9C08-4AEE8E8E642C}"/>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05 / 15</a:t>
            </a:r>
          </a:p>
        </p:txBody>
      </p:sp>
      <p:sp>
        <p:nvSpPr>
          <p:cNvPr id="3" name="BASES DE DATOS VECTORIALES · ASI 2026">
            <a:extLst xmlns:a="http://schemas.openxmlformats.org/drawingml/2006/main">
              <a:ext uri="{FF2B5EF4-FFF2-40B4-BE49-F238E27FC236}">
                <a16:creationId xmlns:a16="http://schemas.microsoft.com/office/drawing/2014/main" id="{861A5DFB-F3E6-47B0-8E37-25832A5F7088}"/>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76d9fd88e984c45"/>
          <a:stretch xmlns:a="http://schemas.openxmlformats.org/drawingml/2006/main"/>
        </p:blipFill>
        <p:spPr>
          <a:xfrm xmlns:a="http://schemas.openxmlformats.org/drawingml/2006/main">
            <a:off x="761206" y="1504950"/>
            <a:ext cx="10669588" cy="4191000"/>
          </a:xfrm>
          <a:prstGeom xmlns:a="http://schemas.openxmlformats.org/drawingml/2006/main" prst="rect">
            <a:avLst/>
          </a:prstGeom>
        </p:spPr>
      </p:pic>
      <p:sp>
        <p:nvSpPr>
          <p:cNvPr id="5" name="cos(a,b) = (a · b) / (‖a‖ ‖b‖)     ·     distancia = 1 ">
            <a:extLst xmlns:a="http://schemas.openxmlformats.org/drawingml/2006/main">
              <a:ext uri="{FF2B5EF4-FFF2-40B4-BE49-F238E27FC236}">
                <a16:creationId xmlns:a16="http://schemas.microsoft.com/office/drawing/2014/main" id="{00E07825-4ED1-4114-8F4B-6D0CB626EA55}"/>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E62BE"/>
                </a:solidFill>
                <a:latin typeface="Arial"/>
                <a:ea typeface="Arial"/>
                <a:cs typeface="Arial"/>
              </a:defRPr>
            </a:pPr>
            <a:r>
              <a:rPr sz="1950" b="0">
                <a:solidFill>
                  <a:srgbClr val="1E62BE"/>
                </a:solidFill>
                <a:latin typeface="Arial"/>
                <a:ea typeface="Arial"/>
                <a:cs typeface="Arial"/>
              </a:rPr>
              <a:t>cos(a,b) = (a · b) / (‖a‖ ‖b‖)     ·     distancia = 1 − cos(a,b)</a:t>
            </a:r>
          </a:p>
        </p:txBody>
      </p:sp>
    </p:spTree>
    <p:extLst>
      <p:ext uri="{BB962C8B-B14F-4D97-AF65-F5344CB8AC3E}">
        <p14:creationId xmlns:p14="http://schemas.microsoft.com/office/powerpoint/2010/main" val="19761657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ecinos próximos: búsqueda exacta y ANN">
            <a:extLst xmlns:a="http://schemas.openxmlformats.org/drawingml/2006/main">
              <a:ext uri="{FF2B5EF4-FFF2-40B4-BE49-F238E27FC236}">
                <a16:creationId xmlns:a16="http://schemas.microsoft.com/office/drawing/2014/main" id="{5CCF1AF2-5714-45AB-A751-FB912D184FA2}"/>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Vecinos próximos: búsqueda exacta y ANN</a:t>
            </a:r>
          </a:p>
        </p:txBody>
      </p:sp>
      <p:sp>
        <p:nvSpPr>
          <p:cNvPr id="2" name="06 / 15">
            <a:extLst xmlns:a="http://schemas.openxmlformats.org/drawingml/2006/main">
              <a:ext uri="{FF2B5EF4-FFF2-40B4-BE49-F238E27FC236}">
                <a16:creationId xmlns:a16="http://schemas.microsoft.com/office/drawing/2014/main" id="{56C74372-2700-4EF6-9EBE-EB7BAA874049}"/>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06 / 15</a:t>
            </a:r>
          </a:p>
        </p:txBody>
      </p:sp>
      <p:sp>
        <p:nvSpPr>
          <p:cNvPr id="3" name="BASES DE DATOS VECTORIALES · ASI 2026">
            <a:extLst xmlns:a="http://schemas.openxmlformats.org/drawingml/2006/main">
              <a:ext uri="{FF2B5EF4-FFF2-40B4-BE49-F238E27FC236}">
                <a16:creationId xmlns:a16="http://schemas.microsoft.com/office/drawing/2014/main" id="{DAD22B89-A12B-410B-A37A-BC507C43ADA9}"/>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graphicFrame>
        <p:nvGraphicFramePr>
          <p:cNvPr id="13" name="Chart"/>
          <p:cNvGraphicFramePr/>
          <p:nvPr/>
        </p:nvGraphicFramePr>
        <p:xfrm>
          <a:off xmlns:a="http://schemas.openxmlformats.org/drawingml/2006/main" x="609600" y="1857375"/>
          <a:ext xmlns:a="http://schemas.openxmlformats.org/drawingml/2006/main" cx="6096000" cy="3619500"/>
        </p:xfrm>
        <a:graphic xmlns:a="http://schemas.openxmlformats.org/drawingml/2006/main">
          <a:graphicData uri="http://schemas.openxmlformats.org/drawingml/2006/chart">
            <c:chart xmlns:r="http://schemas.openxmlformats.org/officeDocument/2006/relationships" xmlns:c="http://schemas.openxmlformats.org/drawingml/2006/chart" r:id="Re49689c0c6424011"/>
          </a:graphicData>
        </a:graphic>
      </p:graphicFrame>
      <p:sp>
        <p:nvSpPr>
          <p:cNvPr id="5" name="Exacta">
            <a:extLst xmlns:a="http://schemas.openxmlformats.org/drawingml/2006/main">
              <a:ext uri="{FF2B5EF4-FFF2-40B4-BE49-F238E27FC236}">
                <a16:creationId xmlns:a16="http://schemas.microsoft.com/office/drawing/2014/main" id="{FAEB19A8-B11E-440B-B589-79952FDCBADC}"/>
              </a:ext>
            </a:extLst>
          </p:cNvPr>
          <p:cNvSpPr>
            <a:spLocks xmlns:a="http://schemas.openxmlformats.org/drawingml/2006/main" noGrp="1"/>
          </p:cNvSpPr>
          <p:nvPr/>
        </p:nvSpPr>
        <p:spPr>
          <a:xfrm xmlns:a="http://schemas.openxmlformats.org/drawingml/2006/main">
            <a:off x="7381875" y="200025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E62BE"/>
                </a:solidFill>
                <a:latin typeface="Arial"/>
                <a:ea typeface="Arial"/>
                <a:cs typeface="Arial"/>
              </a:defRPr>
            </a:pPr>
            <a:r>
              <a:rPr sz="2400" b="1">
                <a:solidFill>
                  <a:srgbClr val="1E62BE"/>
                </a:solidFill>
                <a:latin typeface="Arial"/>
                <a:ea typeface="Arial"/>
                <a:cs typeface="Arial"/>
              </a:rPr>
              <a:t>Exacta</a:t>
            </a:r>
          </a:p>
        </p:txBody>
      </p:sp>
      <p:sp>
        <p:nvSpPr>
          <p:cNvPr id="6" name="Compara todos&#10;los vectores elegibles">
            <a:extLst xmlns:a="http://schemas.openxmlformats.org/drawingml/2006/main">
              <a:ext uri="{FF2B5EF4-FFF2-40B4-BE49-F238E27FC236}">
                <a16:creationId xmlns:a16="http://schemas.microsoft.com/office/drawing/2014/main" id="{FAF7E774-4C79-4BED-A14D-5D1BF7C0B197}"/>
              </a:ext>
            </a:extLst>
          </p:cNvPr>
          <p:cNvSpPr>
            <a:spLocks xmlns:a="http://schemas.openxmlformats.org/drawingml/2006/main" noGrp="1"/>
          </p:cNvSpPr>
          <p:nvPr/>
        </p:nvSpPr>
        <p:spPr>
          <a:xfrm xmlns:a="http://schemas.openxmlformats.org/drawingml/2006/main">
            <a:off x="7381875" y="2562225"/>
            <a:ext cx="4048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41"/>
                </a:solidFill>
                <a:latin typeface="Arial"/>
                <a:ea typeface="Arial"/>
                <a:cs typeface="Arial"/>
              </a:defRPr>
            </a:pPr>
            <a:r>
              <a:rPr sz="2175" b="0">
                <a:solidFill>
                  <a:srgbClr val="132B41"/>
                </a:solidFill>
                <a:latin typeface="Arial"/>
                <a:ea typeface="Arial"/>
                <a:cs typeface="Arial"/>
              </a:rPr>
              <a:t>Compara todos</a:t>
            </a:r>
          </a:p>
          <a:p xmlns:a="http://schemas.openxmlformats.org/drawingml/2006/main">
            <a:pPr>
              <a:defRPr sz="2175" b="0">
                <a:solidFill>
                  <a:srgbClr val="132B41"/>
                </a:solidFill>
                <a:latin typeface="Arial"/>
                <a:ea typeface="Arial"/>
                <a:cs typeface="Arial"/>
              </a:defRPr>
            </a:pPr>
            <a:r>
              <a:rPr sz="2175" b="0">
                <a:solidFill>
                  <a:srgbClr val="132B41"/>
                </a:solidFill>
                <a:latin typeface="Arial"/>
                <a:ea typeface="Arial"/>
                <a:cs typeface="Arial"/>
              </a:rPr>
              <a:t>los vectores elegibles</a:t>
            </a:r>
          </a:p>
        </p:txBody>
      </p:sp>
      <p:sp>
        <p:nvSpPr>
          <p:cNvPr id="7" name="Aproximada (ANN)">
            <a:extLst xmlns:a="http://schemas.openxmlformats.org/drawingml/2006/main">
              <a:ext uri="{FF2B5EF4-FFF2-40B4-BE49-F238E27FC236}">
                <a16:creationId xmlns:a16="http://schemas.microsoft.com/office/drawing/2014/main" id="{75456A37-FA25-41BE-8580-2B6C6C08264E}"/>
              </a:ext>
            </a:extLst>
          </p:cNvPr>
          <p:cNvSpPr>
            <a:spLocks xmlns:a="http://schemas.openxmlformats.org/drawingml/2006/main" noGrp="1"/>
          </p:cNvSpPr>
          <p:nvPr/>
        </p:nvSpPr>
        <p:spPr>
          <a:xfrm xmlns:a="http://schemas.openxmlformats.org/drawingml/2006/main">
            <a:off x="7381875" y="372427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44D12"/>
                </a:solidFill>
                <a:latin typeface="Arial"/>
                <a:ea typeface="Arial"/>
                <a:cs typeface="Arial"/>
              </a:defRPr>
            </a:pPr>
            <a:r>
              <a:rPr sz="2400" b="1">
                <a:solidFill>
                  <a:srgbClr val="C44D12"/>
                </a:solidFill>
                <a:latin typeface="Arial"/>
                <a:ea typeface="Arial"/>
                <a:cs typeface="Arial"/>
              </a:rPr>
              <a:t>Aproximada (ANN)</a:t>
            </a:r>
          </a:p>
        </p:txBody>
      </p:sp>
      <p:sp>
        <p:nvSpPr>
          <p:cNvPr id="8" name="Explora una parte;&#10;puede omitir vecinos">
            <a:extLst xmlns:a="http://schemas.openxmlformats.org/drawingml/2006/main">
              <a:ext uri="{FF2B5EF4-FFF2-40B4-BE49-F238E27FC236}">
                <a16:creationId xmlns:a16="http://schemas.microsoft.com/office/drawing/2014/main" id="{E42893C6-4BC4-4B99-9A06-836CB674ED6C}"/>
              </a:ext>
            </a:extLst>
          </p:cNvPr>
          <p:cNvSpPr>
            <a:spLocks xmlns:a="http://schemas.openxmlformats.org/drawingml/2006/main" noGrp="1"/>
          </p:cNvSpPr>
          <p:nvPr/>
        </p:nvSpPr>
        <p:spPr>
          <a:xfrm xmlns:a="http://schemas.openxmlformats.org/drawingml/2006/main">
            <a:off x="7381875" y="4286250"/>
            <a:ext cx="404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41"/>
                </a:solidFill>
                <a:latin typeface="Arial"/>
                <a:ea typeface="Arial"/>
                <a:cs typeface="Arial"/>
              </a:defRPr>
            </a:pPr>
            <a:r>
              <a:rPr sz="2175" b="0">
                <a:solidFill>
                  <a:srgbClr val="132B41"/>
                </a:solidFill>
                <a:latin typeface="Arial"/>
                <a:ea typeface="Arial"/>
                <a:cs typeface="Arial"/>
              </a:rPr>
              <a:t>Explora una parte;</a:t>
            </a:r>
          </a:p>
          <a:p xmlns:a="http://schemas.openxmlformats.org/drawingml/2006/main">
            <a:pPr>
              <a:defRPr sz="2175" b="0">
                <a:solidFill>
                  <a:srgbClr val="132B41"/>
                </a:solidFill>
                <a:latin typeface="Arial"/>
                <a:ea typeface="Arial"/>
                <a:cs typeface="Arial"/>
              </a:defRPr>
            </a:pPr>
            <a:r>
              <a:rPr sz="2175" b="0">
                <a:solidFill>
                  <a:srgbClr val="132B41"/>
                </a:solidFill>
                <a:latin typeface="Arial"/>
                <a:ea typeface="Arial"/>
                <a:cs typeface="Arial"/>
              </a:rPr>
              <a:t>puede omitir vecinos</a:t>
            </a:r>
          </a:p>
        </p:txBody>
      </p:sp>
      <p:sp>
        <p:nvSpPr>
          <p:cNvPr id="9" name="Ejemplo sintético · Q = (4, 1), k = 3 · menor distancia">
            <a:extLst xmlns:a="http://schemas.openxmlformats.org/drawingml/2006/main">
              <a:ext uri="{FF2B5EF4-FFF2-40B4-BE49-F238E27FC236}">
                <a16:creationId xmlns:a16="http://schemas.microsoft.com/office/drawing/2014/main" id="{5B59B6F7-7B5E-4DD1-B336-8D70848FCCA4}"/>
              </a:ext>
            </a:extLst>
          </p:cNvPr>
          <p:cNvSpPr>
            <a:spLocks xmlns:a="http://schemas.openxmlformats.org/drawingml/2006/main" noGrp="1"/>
          </p:cNvSpPr>
          <p:nvPr/>
        </p:nvSpPr>
        <p:spPr>
          <a:xfrm xmlns:a="http://schemas.openxmlformats.org/drawingml/2006/main">
            <a:off x="609600" y="58007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6"/>
                </a:solidFill>
                <a:latin typeface="Arial"/>
                <a:ea typeface="Arial"/>
                <a:cs typeface="Arial"/>
              </a:defRPr>
            </a:pPr>
            <a:r>
              <a:rPr sz="1800" b="0">
                <a:solidFill>
                  <a:srgbClr val="526476"/>
                </a:solidFill>
                <a:latin typeface="Arial"/>
                <a:ea typeface="Arial"/>
                <a:cs typeface="Arial"/>
              </a:rPr>
              <a:t>Ejemplo sintético · Q = (4, 1), k = 3 · menor distancia implica mayor cercanía</a:t>
            </a:r>
          </a:p>
        </p:txBody>
      </p:sp>
    </p:spTree>
    <p:extLst>
      <p:ext uri="{BB962C8B-B14F-4D97-AF65-F5344CB8AC3E}">
        <p14:creationId xmlns:p14="http://schemas.microsoft.com/office/powerpoint/2010/main" val="15586484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NSW: navegación por capas">
            <a:extLst xmlns:a="http://schemas.openxmlformats.org/drawingml/2006/main">
              <a:ext uri="{FF2B5EF4-FFF2-40B4-BE49-F238E27FC236}">
                <a16:creationId xmlns:a16="http://schemas.microsoft.com/office/drawing/2014/main" id="{C23C96F1-34BF-4E42-B41F-BE4D17452002}"/>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HNSW: navegación por capas</a:t>
            </a:r>
          </a:p>
        </p:txBody>
      </p:sp>
      <p:sp>
        <p:nvSpPr>
          <p:cNvPr id="2" name="07 / 15">
            <a:extLst xmlns:a="http://schemas.openxmlformats.org/drawingml/2006/main">
              <a:ext uri="{FF2B5EF4-FFF2-40B4-BE49-F238E27FC236}">
                <a16:creationId xmlns:a16="http://schemas.microsoft.com/office/drawing/2014/main" id="{632F6C61-D998-477E-9499-196735A55E41}"/>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07 / 15</a:t>
            </a:r>
          </a:p>
        </p:txBody>
      </p:sp>
      <p:sp>
        <p:nvSpPr>
          <p:cNvPr id="3" name="BASES DE DATOS VECTORIALES · ASI 2026">
            <a:extLst xmlns:a="http://schemas.openxmlformats.org/drawingml/2006/main">
              <a:ext uri="{FF2B5EF4-FFF2-40B4-BE49-F238E27FC236}">
                <a16:creationId xmlns:a16="http://schemas.microsoft.com/office/drawing/2014/main" id="{A179EA68-796F-4E1E-9DD4-28530FF29D4C}"/>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bdccf1085154fcc"/>
          <a:stretch xmlns:a="http://schemas.openxmlformats.org/drawingml/2006/main"/>
        </p:blipFill>
        <p:spPr>
          <a:xfrm xmlns:a="http://schemas.openxmlformats.org/drawingml/2006/main">
            <a:off x="609600" y="1657631"/>
            <a:ext cx="10972800" cy="3771339"/>
          </a:xfrm>
          <a:prstGeom xmlns:a="http://schemas.openxmlformats.org/drawingml/2006/main" prst="rect">
            <a:avLst/>
          </a:prstGeom>
        </p:spPr>
      </p:pic>
      <p:sp>
        <p:nvSpPr>
          <p:cNvPr id="5" name="Más exploración puede mejorar cobertura, con mayor cost">
            <a:extLst xmlns:a="http://schemas.openxmlformats.org/drawingml/2006/main">
              <a:ext uri="{FF2B5EF4-FFF2-40B4-BE49-F238E27FC236}">
                <a16:creationId xmlns:a16="http://schemas.microsoft.com/office/drawing/2014/main" id="{E86567F0-C8E1-4DDA-8E83-B48F9B7AAEA5}"/>
              </a:ext>
            </a:extLst>
          </p:cNvPr>
          <p:cNvSpPr>
            <a:spLocks xmlns:a="http://schemas.openxmlformats.org/drawingml/2006/main" noGrp="1"/>
          </p:cNvSpPr>
          <p:nvPr/>
        </p:nvSpPr>
        <p:spPr>
          <a:xfrm xmlns:a="http://schemas.openxmlformats.org/drawingml/2006/main">
            <a:off x="609600" y="56197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E62BE"/>
                </a:solidFill>
                <a:latin typeface="Arial"/>
                <a:ea typeface="Arial"/>
                <a:cs typeface="Arial"/>
              </a:defRPr>
            </a:pPr>
            <a:r>
              <a:rPr sz="2175" b="1">
                <a:solidFill>
                  <a:srgbClr val="1E62BE"/>
                </a:solidFill>
                <a:latin typeface="Arial"/>
                <a:ea typeface="Arial"/>
                <a:cs typeface="Arial"/>
              </a:rPr>
              <a:t>Más exploración puede mejorar cobertura, con mayor costo de búsqueda.</a:t>
            </a:r>
          </a:p>
        </p:txBody>
      </p:sp>
      <p:sp>
        <p:nvSpPr>
          <p:cNvPr id="6" name="Recorrido simplificado; no es el índice interno de Chro">
            <a:extLst xmlns:a="http://schemas.openxmlformats.org/drawingml/2006/main">
              <a:ext uri="{FF2B5EF4-FFF2-40B4-BE49-F238E27FC236}">
                <a16:creationId xmlns:a16="http://schemas.microsoft.com/office/drawing/2014/main" id="{47798EB1-8C4C-460A-98E2-B08DEFF12CD4}"/>
              </a:ext>
            </a:extLst>
          </p:cNvPr>
          <p:cNvSpPr>
            <a:spLocks xmlns:a="http://schemas.openxmlformats.org/drawingml/2006/main" noGrp="1"/>
          </p:cNvSpPr>
          <p:nvPr/>
        </p:nvSpPr>
        <p:spPr>
          <a:xfrm xmlns:a="http://schemas.openxmlformats.org/drawingml/2006/main">
            <a:off x="609600" y="60674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476"/>
                </a:solidFill>
                <a:latin typeface="Arial"/>
                <a:ea typeface="Arial"/>
                <a:cs typeface="Arial"/>
              </a:defRPr>
            </a:pPr>
            <a:r>
              <a:rPr sz="1575" b="0">
                <a:solidFill>
                  <a:srgbClr val="526476"/>
                </a:solidFill>
                <a:latin typeface="Arial"/>
                <a:ea typeface="Arial"/>
                <a:cs typeface="Arial"/>
              </a:rPr>
              <a:t>Recorrido simplificado; no es el índice interno de Chroma.</a:t>
            </a:r>
          </a:p>
        </p:txBody>
      </p:sp>
    </p:spTree>
    <p:extLst>
      <p:ext uri="{BB962C8B-B14F-4D97-AF65-F5344CB8AC3E}">
        <p14:creationId xmlns:p14="http://schemas.microsoft.com/office/powerpoint/2010/main" val="2493118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op-k y filtros de metadatos">
            <a:extLst xmlns:a="http://schemas.openxmlformats.org/drawingml/2006/main">
              <a:ext uri="{FF2B5EF4-FFF2-40B4-BE49-F238E27FC236}">
                <a16:creationId xmlns:a16="http://schemas.microsoft.com/office/drawing/2014/main" id="{EC75A6A1-BC3C-4236-9E89-5B224C786286}"/>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Top-k y filtros de metadatos</a:t>
            </a:r>
          </a:p>
        </p:txBody>
      </p:sp>
      <p:sp>
        <p:nvSpPr>
          <p:cNvPr id="2" name="08 / 15">
            <a:extLst xmlns:a="http://schemas.openxmlformats.org/drawingml/2006/main">
              <a:ext uri="{FF2B5EF4-FFF2-40B4-BE49-F238E27FC236}">
                <a16:creationId xmlns:a16="http://schemas.microsoft.com/office/drawing/2014/main" id="{4B7C0782-4F1A-4A17-B402-7E581A9B84D2}"/>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08 / 15</a:t>
            </a:r>
          </a:p>
        </p:txBody>
      </p:sp>
      <p:sp>
        <p:nvSpPr>
          <p:cNvPr id="3" name="BASES DE DATOS VECTORIALES · ASI 2026">
            <a:extLst xmlns:a="http://schemas.openxmlformats.org/drawingml/2006/main">
              <a:ext uri="{FF2B5EF4-FFF2-40B4-BE49-F238E27FC236}">
                <a16:creationId xmlns:a16="http://schemas.microsoft.com/office/drawing/2014/main" id="{EF6E3ACB-E6EE-4154-BDE4-4732C1CA1973}"/>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4353319e9d64605"/>
          <a:stretch xmlns:a="http://schemas.openxmlformats.org/drawingml/2006/main"/>
        </p:blipFill>
        <p:spPr>
          <a:xfrm xmlns:a="http://schemas.openxmlformats.org/drawingml/2006/main">
            <a:off x="943074" y="1476375"/>
            <a:ext cx="10305852" cy="4048125"/>
          </a:xfrm>
          <a:prstGeom xmlns:a="http://schemas.openxmlformats.org/drawingml/2006/main" prst="rect">
            <a:avLst/>
          </a:prstGeom>
        </p:spPr>
      </p:pic>
      <p:sp>
        <p:nvSpPr>
          <p:cNvPr id="5" name="Filtros → universo elegible     |     similitud → orden">
            <a:extLst xmlns:a="http://schemas.openxmlformats.org/drawingml/2006/main">
              <a:ext uri="{FF2B5EF4-FFF2-40B4-BE49-F238E27FC236}">
                <a16:creationId xmlns:a16="http://schemas.microsoft.com/office/drawing/2014/main" id="{BE768B08-CE14-4C40-B4C5-00B4CBC5B3B2}"/>
              </a:ext>
            </a:extLst>
          </p:cNvPr>
          <p:cNvSpPr>
            <a:spLocks xmlns:a="http://schemas.openxmlformats.org/drawingml/2006/main" noGrp="1"/>
          </p:cNvSpPr>
          <p:nvPr/>
        </p:nvSpPr>
        <p:spPr>
          <a:xfrm xmlns:a="http://schemas.openxmlformats.org/drawingml/2006/main">
            <a:off x="609600" y="5715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E62BE"/>
                </a:solidFill>
                <a:latin typeface="Arial"/>
                <a:ea typeface="Arial"/>
                <a:cs typeface="Arial"/>
              </a:defRPr>
            </a:pPr>
            <a:r>
              <a:rPr sz="2100" b="1">
                <a:solidFill>
                  <a:srgbClr val="1E62BE"/>
                </a:solidFill>
                <a:latin typeface="Arial"/>
                <a:ea typeface="Arial"/>
                <a:cs typeface="Arial"/>
              </a:rPr>
              <a:t>Filtros → universo elegible     |     similitud → orden     |     k → cantidad</a:t>
            </a:r>
          </a:p>
        </p:txBody>
      </p:sp>
    </p:spTree>
    <p:extLst>
      <p:ext uri="{BB962C8B-B14F-4D97-AF65-F5344CB8AC3E}">
        <p14:creationId xmlns:p14="http://schemas.microsoft.com/office/powerpoint/2010/main" val="4531140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ersistencia, actualización y escala">
            <a:extLst xmlns:a="http://schemas.openxmlformats.org/drawingml/2006/main">
              <a:ext uri="{FF2B5EF4-FFF2-40B4-BE49-F238E27FC236}">
                <a16:creationId xmlns:a16="http://schemas.microsoft.com/office/drawing/2014/main" id="{ED7159B9-1CF5-46C0-876A-B60A6F2F5DA6}"/>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Persistencia, actualización y escala</a:t>
            </a:r>
          </a:p>
        </p:txBody>
      </p:sp>
      <p:sp>
        <p:nvSpPr>
          <p:cNvPr id="2" name="09 / 15">
            <a:extLst xmlns:a="http://schemas.openxmlformats.org/drawingml/2006/main">
              <a:ext uri="{FF2B5EF4-FFF2-40B4-BE49-F238E27FC236}">
                <a16:creationId xmlns:a16="http://schemas.microsoft.com/office/drawing/2014/main" id="{1906D1D0-300A-41F7-84D9-38113C2EDC2E}"/>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09 / 15</a:t>
            </a:r>
          </a:p>
        </p:txBody>
      </p:sp>
      <p:sp>
        <p:nvSpPr>
          <p:cNvPr id="3" name="BASES DE DATOS VECTORIALES · ASI 2026">
            <a:extLst xmlns:a="http://schemas.openxmlformats.org/drawingml/2006/main">
              <a:ext uri="{FF2B5EF4-FFF2-40B4-BE49-F238E27FC236}">
                <a16:creationId xmlns:a16="http://schemas.microsoft.com/office/drawing/2014/main" id="{8E2AC944-5FB5-4426-96ED-39D8750CB2A1}"/>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graphicFrame>
        <p:nvGraphicFramePr>
          <p:cNvPr id="11" name=""/>
          <p:cNvGraphicFramePr/>
          <p:nvPr/>
        </p:nvGraphicFramePr>
        <p:xfrm>
          <a:off xmlns:a="http://schemas.openxmlformats.org/drawingml/2006/main" x="609600" y="1600200"/>
          <a:ext xmlns:a="http://schemas.openxmlformats.org/drawingml/2006/main" cx="10972800" cy="2952750"/>
        </p:xfrm>
        <a:graphic xmlns:a="http://schemas.openxmlformats.org/drawingml/2006/main">
          <a:graphicData uri="http://schemas.openxmlformats.org/drawingml/2006/table">
            <a:tbl>
              <a:tblPr/>
              <a:tblGrid>
                <a:gridCol w="3429000"/>
                <a:gridCol w="7543800"/>
              </a:tblGrid>
              <a:tr h="738188">
                <a:tc>
                  <a:txBody>
                    <a:bodyPr>
                      <a:noAutofit/>
                    </a:bodyPr>
                    <a:lstStyle/>
                    <a:p>
                      <a:r>
                        <a:rPr sz="1875" b="1">
                          <a:solidFill>
                            <a:srgbClr val="FFFFFF"/>
                          </a:solidFill>
                          <a:latin typeface="Arial"/>
                          <a:ea typeface="Arial"/>
                          <a:cs typeface="Arial"/>
                        </a:rPr>
                        <a:t>Responsabilidad</a:t>
                      </a:r>
                    </a:p>
                  </a:txBody>
                  <a:tcPr marL="91440" marR="91440" marT="45720" marB="45720">
                    <a:solidFill>
                      <a:srgbClr val="1E62BE"/>
                    </a:solidFill>
                  </a:tcPr>
                </a:tc>
                <a:tc>
                  <a:txBody>
                    <a:bodyPr>
                      <a:noAutofit/>
                    </a:bodyPr>
                    <a:lstStyle/>
                    <a:p>
                      <a:r>
                        <a:rPr sz="1875" b="1">
                          <a:solidFill>
                            <a:srgbClr val="FFFFFF"/>
                          </a:solidFill>
                          <a:latin typeface="Arial"/>
                          <a:ea typeface="Arial"/>
                          <a:cs typeface="Arial"/>
                        </a:rPr>
                        <a:t>Decisión de administración</a:t>
                      </a:r>
                    </a:p>
                  </a:txBody>
                  <a:tcPr marL="91440" marR="91440" marT="45720" marB="45720">
                    <a:solidFill>
                      <a:srgbClr val="1E62BE"/>
                    </a:solidFill>
                  </a:tcPr>
                </a:tc>
              </a:tr>
              <a:tr h="738188">
                <a:tc>
                  <a:txBody>
                    <a:bodyPr>
                      <a:noAutofit/>
                    </a:bodyPr>
                    <a:lstStyle/>
                    <a:p>
                      <a:r>
                        <a:rPr sz="1875" b="0">
                          <a:solidFill>
                            <a:srgbClr val="132B41"/>
                          </a:solidFill>
                          <a:latin typeface="Arial"/>
                          <a:ea typeface="Arial"/>
                          <a:cs typeface="Arial"/>
                        </a:rPr>
                        <a:t>Persistencia</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Reutilizar y respaldar la colección</a:t>
                      </a:r>
                    </a:p>
                  </a:txBody>
                  <a:tcPr marL="91440" marR="91440" marT="45720" marB="45720">
                    <a:solidFill>
                      <a:srgbClr val="FFFFFF"/>
                    </a:solidFill>
                  </a:tcPr>
                </a:tc>
              </a:tr>
              <a:tr h="738188">
                <a:tc>
                  <a:txBody>
                    <a:bodyPr>
                      <a:noAutofit/>
                    </a:bodyPr>
                    <a:lstStyle/>
                    <a:p>
                      <a:r>
                        <a:rPr sz="1875" b="0">
                          <a:solidFill>
                            <a:srgbClr val="132B41"/>
                          </a:solidFill>
                          <a:latin typeface="Arial"/>
                          <a:ea typeface="Arial"/>
                          <a:cs typeface="Arial"/>
                        </a:rPr>
                        <a:t>Actualización</a:t>
                      </a:r>
                    </a:p>
                  </a:txBody>
                  <a:tcPr marL="91440" marR="91440" marT="45720" marB="45720">
                    <a:solidFill>
                      <a:srgbClr val="F3F6FA"/>
                    </a:solidFill>
                  </a:tcPr>
                </a:tc>
                <a:tc>
                  <a:txBody>
                    <a:bodyPr>
                      <a:noAutofit/>
                    </a:bodyPr>
                    <a:lstStyle/>
                    <a:p>
                      <a:r>
                        <a:rPr sz="1875" b="0">
                          <a:solidFill>
                            <a:srgbClr val="132B41"/>
                          </a:solidFill>
                          <a:latin typeface="Arial"/>
                          <a:ea typeface="Arial"/>
                          <a:cs typeface="Arial"/>
                        </a:rPr>
                        <a:t>Versionar fuente, perfil y modelo</a:t>
                      </a:r>
                    </a:p>
                  </a:txBody>
                  <a:tcPr marL="91440" marR="91440" marT="45720" marB="45720">
                    <a:solidFill>
                      <a:srgbClr val="F3F6FA"/>
                    </a:solidFill>
                  </a:tcPr>
                </a:tc>
              </a:tr>
              <a:tr h="738188">
                <a:tc>
                  <a:txBody>
                    <a:bodyPr>
                      <a:noAutofit/>
                    </a:bodyPr>
                    <a:lstStyle/>
                    <a:p>
                      <a:r>
                        <a:rPr sz="1875" b="0">
                          <a:solidFill>
                            <a:srgbClr val="132B41"/>
                          </a:solidFill>
                          <a:latin typeface="Arial"/>
                          <a:ea typeface="Arial"/>
                          <a:cs typeface="Arial"/>
                        </a:rPr>
                        <a:t>Distribución</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Particiones, réplicas y consistencia</a:t>
                      </a:r>
                    </a:p>
                  </a:txBody>
                  <a:tcPr marL="91440" marR="91440" marT="45720" marB="45720">
                    <a:solidFill>
                      <a:srgbClr val="FFFFFF"/>
                    </a:solidFill>
                  </a:tcPr>
                </a:tc>
              </a:tr>
            </a:tbl>
          </a:graphicData>
        </a:graphic>
      </p:graphicFrame>
      <p:sp>
        <p:nvSpPr>
          <p:cNvPr id="5" name="N × D × 4 bytes">
            <a:extLst xmlns:a="http://schemas.openxmlformats.org/drawingml/2006/main">
              <a:ext uri="{FF2B5EF4-FFF2-40B4-BE49-F238E27FC236}">
                <a16:creationId xmlns:a16="http://schemas.microsoft.com/office/drawing/2014/main" id="{9B7E4FE0-F784-4C4E-A80E-E255784BCF30}"/>
              </a:ext>
            </a:extLst>
          </p:cNvPr>
          <p:cNvSpPr>
            <a:spLocks xmlns:a="http://schemas.openxmlformats.org/drawingml/2006/main" noGrp="1"/>
          </p:cNvSpPr>
          <p:nvPr/>
        </p:nvSpPr>
        <p:spPr>
          <a:xfrm xmlns:a="http://schemas.openxmlformats.org/drawingml/2006/main">
            <a:off x="609600" y="501015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E62BE"/>
                </a:solidFill>
                <a:latin typeface="Arial"/>
                <a:ea typeface="Arial"/>
                <a:cs typeface="Arial"/>
              </a:defRPr>
            </a:pPr>
            <a:r>
              <a:rPr sz="3675" b="1">
                <a:solidFill>
                  <a:srgbClr val="1E62BE"/>
                </a:solidFill>
                <a:latin typeface="Arial"/>
                <a:ea typeface="Arial"/>
                <a:cs typeface="Arial"/>
              </a:rPr>
              <a:t>N × D × 4 bytes</a:t>
            </a:r>
          </a:p>
        </p:txBody>
      </p:sp>
      <p:sp>
        <p:nvSpPr>
          <p:cNvPr id="6" name="31,37 MB">
            <a:extLst xmlns:a="http://schemas.openxmlformats.org/drawingml/2006/main">
              <a:ext uri="{FF2B5EF4-FFF2-40B4-BE49-F238E27FC236}">
                <a16:creationId xmlns:a16="http://schemas.microsoft.com/office/drawing/2014/main" id="{DE60D687-454D-4D19-AD68-C524DED9903D}"/>
              </a:ext>
            </a:extLst>
          </p:cNvPr>
          <p:cNvSpPr>
            <a:spLocks xmlns:a="http://schemas.openxmlformats.org/drawingml/2006/main" noGrp="1"/>
          </p:cNvSpPr>
          <p:nvPr/>
        </p:nvSpPr>
        <p:spPr>
          <a:xfrm xmlns:a="http://schemas.openxmlformats.org/drawingml/2006/main">
            <a:off x="6953250" y="5010150"/>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C44D12"/>
                </a:solidFill>
                <a:latin typeface="Arial"/>
                <a:ea typeface="Arial"/>
                <a:cs typeface="Arial"/>
              </a:defRPr>
            </a:pPr>
            <a:r>
              <a:rPr sz="3675" b="1">
                <a:solidFill>
                  <a:srgbClr val="C44D12"/>
                </a:solidFill>
                <a:latin typeface="Arial"/>
                <a:ea typeface="Arial"/>
                <a:cs typeface="Arial"/>
              </a:rPr>
              <a:t>31,37 MB</a:t>
            </a:r>
          </a:p>
        </p:txBody>
      </p:sp>
      <p:sp>
        <p:nvSpPr>
          <p:cNvPr id="7" name="Vectores float32: estimación del contenido numérico, si">
            <a:extLst xmlns:a="http://schemas.openxmlformats.org/drawingml/2006/main">
              <a:ext uri="{FF2B5EF4-FFF2-40B4-BE49-F238E27FC236}">
                <a16:creationId xmlns:a16="http://schemas.microsoft.com/office/drawing/2014/main" id="{DCB6E46B-A967-43EF-999C-052C2A7CF6AD}"/>
              </a:ext>
            </a:extLst>
          </p:cNvPr>
          <p:cNvSpPr>
            <a:spLocks xmlns:a="http://schemas.openxmlformats.org/drawingml/2006/main" noGrp="1"/>
          </p:cNvSpPr>
          <p:nvPr/>
        </p:nvSpPr>
        <p:spPr>
          <a:xfrm xmlns:a="http://schemas.openxmlformats.org/drawingml/2006/main">
            <a:off x="609600" y="57816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6"/>
                </a:solidFill>
                <a:latin typeface="Arial"/>
                <a:ea typeface="Arial"/>
                <a:cs typeface="Arial"/>
              </a:defRPr>
            </a:pPr>
            <a:r>
              <a:rPr sz="1800" b="0">
                <a:solidFill>
                  <a:srgbClr val="526476"/>
                </a:solidFill>
                <a:latin typeface="Arial"/>
                <a:ea typeface="Arial"/>
                <a:cs typeface="Arial"/>
              </a:rPr>
              <a:t>Vectores float32: estimación del contenido numérico, sin grafo, documentos ni modelo.</a:t>
            </a:r>
          </a:p>
        </p:txBody>
      </p:sp>
    </p:spTree>
    <p:extLst>
      <p:ext uri="{BB962C8B-B14F-4D97-AF65-F5344CB8AC3E}">
        <p14:creationId xmlns:p14="http://schemas.microsoft.com/office/powerpoint/2010/main" val="17351113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rquitectura: ingesta y consulta">
            <a:extLst xmlns:a="http://schemas.openxmlformats.org/drawingml/2006/main">
              <a:ext uri="{FF2B5EF4-FFF2-40B4-BE49-F238E27FC236}">
                <a16:creationId xmlns:a16="http://schemas.microsoft.com/office/drawing/2014/main" id="{72411F5D-17E5-45AD-A5A2-24D7AA022D16}"/>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Arquitectura: ingesta y consulta</a:t>
            </a:r>
          </a:p>
        </p:txBody>
      </p:sp>
      <p:sp>
        <p:nvSpPr>
          <p:cNvPr id="2" name="10 / 15">
            <a:extLst xmlns:a="http://schemas.openxmlformats.org/drawingml/2006/main">
              <a:ext uri="{FF2B5EF4-FFF2-40B4-BE49-F238E27FC236}">
                <a16:creationId xmlns:a16="http://schemas.microsoft.com/office/drawing/2014/main" id="{7A451260-D9B6-4E70-96EA-D291857AAB92}"/>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10 / 15</a:t>
            </a:r>
          </a:p>
        </p:txBody>
      </p:sp>
      <p:sp>
        <p:nvSpPr>
          <p:cNvPr id="3" name="BASES DE DATOS VECTORIALES · ASI 2026">
            <a:extLst xmlns:a="http://schemas.openxmlformats.org/drawingml/2006/main">
              <a:ext uri="{FF2B5EF4-FFF2-40B4-BE49-F238E27FC236}">
                <a16:creationId xmlns:a16="http://schemas.microsoft.com/office/drawing/2014/main" id="{7DD83032-0CFD-4F14-9605-9CF4861F13C3}"/>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sp>
        <p:nvSpPr>
          <p:cNvPr id="4" name="INGESTA · cuando cambia la fuente">
            <a:extLst xmlns:a="http://schemas.openxmlformats.org/drawingml/2006/main">
              <a:ext uri="{FF2B5EF4-FFF2-40B4-BE49-F238E27FC236}">
                <a16:creationId xmlns:a16="http://schemas.microsoft.com/office/drawing/2014/main" id="{C401BB34-DD9F-42F7-8268-E445C231A856}"/>
              </a:ext>
            </a:extLst>
          </p:cNvPr>
          <p:cNvSpPr>
            <a:spLocks xmlns:a="http://schemas.openxmlformats.org/drawingml/2006/main" noGrp="1"/>
          </p:cNvSpPr>
          <p:nvPr/>
        </p:nvSpPr>
        <p:spPr>
          <a:xfrm xmlns:a="http://schemas.openxmlformats.org/drawingml/2006/main">
            <a:off x="609600" y="1647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E62BE"/>
                </a:solidFill>
                <a:latin typeface="Arial"/>
                <a:ea typeface="Arial"/>
                <a:cs typeface="Arial"/>
              </a:defRPr>
            </a:pPr>
            <a:r>
              <a:rPr sz="1950" b="1">
                <a:solidFill>
                  <a:srgbClr val="1E62BE"/>
                </a:solidFill>
                <a:latin typeface="Arial"/>
                <a:ea typeface="Arial"/>
                <a:cs typeface="Arial"/>
              </a:rPr>
              <a:t>INGESTA · cuando cambia la fuente</a:t>
            </a:r>
          </a:p>
        </p:txBody>
      </p:sp>
      <p:sp>
        <p:nvSpPr>
          <p:cNvPr id="5" name="Fuente  →  Perfiles  →  Embeddings  →  Colección">
            <a:extLst xmlns:a="http://schemas.openxmlformats.org/drawingml/2006/main">
              <a:ext uri="{FF2B5EF4-FFF2-40B4-BE49-F238E27FC236}">
                <a16:creationId xmlns:a16="http://schemas.microsoft.com/office/drawing/2014/main" id="{8D0B0ECF-085F-46E0-BBFF-11945E41ABFE}"/>
              </a:ext>
            </a:extLst>
          </p:cNvPr>
          <p:cNvSpPr>
            <a:spLocks xmlns:a="http://schemas.openxmlformats.org/drawingml/2006/main" noGrp="1"/>
          </p:cNvSpPr>
          <p:nvPr/>
        </p:nvSpPr>
        <p:spPr>
          <a:xfrm xmlns:a="http://schemas.openxmlformats.org/drawingml/2006/main">
            <a:off x="609600" y="2324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32B41"/>
                </a:solidFill>
                <a:latin typeface="Arial"/>
                <a:ea typeface="Arial"/>
                <a:cs typeface="Arial"/>
              </a:defRPr>
            </a:pPr>
            <a:r>
              <a:rPr sz="3000" b="0">
                <a:solidFill>
                  <a:srgbClr val="132B41"/>
                </a:solidFill>
                <a:latin typeface="Arial"/>
                <a:ea typeface="Arial"/>
                <a:cs typeface="Arial"/>
              </a:rPr>
              <a:t>Fuente  →  Perfiles  →  Embeddings  →  Colección</a:t>
            </a:r>
          </a:p>
        </p:txBody>
      </p:sp>
      <p:sp>
        <p:nvSpPr>
          <p:cNvPr id="6" name="CONSULTA · ante cada búsqueda">
            <a:extLst xmlns:a="http://schemas.openxmlformats.org/drawingml/2006/main">
              <a:ext uri="{FF2B5EF4-FFF2-40B4-BE49-F238E27FC236}">
                <a16:creationId xmlns:a16="http://schemas.microsoft.com/office/drawing/2014/main" id="{5106F501-B554-4750-982F-4D46D6FD2695}"/>
              </a:ext>
            </a:extLst>
          </p:cNvPr>
          <p:cNvSpPr>
            <a:spLocks xmlns:a="http://schemas.openxmlformats.org/drawingml/2006/main" noGrp="1"/>
          </p:cNvSpPr>
          <p:nvPr/>
        </p:nvSpPr>
        <p:spPr>
          <a:xfrm xmlns:a="http://schemas.openxmlformats.org/drawingml/2006/main">
            <a:off x="609600" y="36385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E62BE"/>
                </a:solidFill>
                <a:latin typeface="Arial"/>
                <a:ea typeface="Arial"/>
                <a:cs typeface="Arial"/>
              </a:defRPr>
            </a:pPr>
            <a:r>
              <a:rPr sz="1950" b="1">
                <a:solidFill>
                  <a:srgbClr val="1E62BE"/>
                </a:solidFill>
                <a:latin typeface="Arial"/>
                <a:ea typeface="Arial"/>
                <a:cs typeface="Arial"/>
              </a:rPr>
              <a:t>CONSULTA · ante cada búsqueda</a:t>
            </a:r>
          </a:p>
        </p:txBody>
      </p:sp>
      <p:sp>
        <p:nvSpPr>
          <p:cNvPr id="7" name="Pregunta  →  Embedding + filtros  →  Vecinos">
            <a:extLst xmlns:a="http://schemas.openxmlformats.org/drawingml/2006/main">
              <a:ext uri="{FF2B5EF4-FFF2-40B4-BE49-F238E27FC236}">
                <a16:creationId xmlns:a16="http://schemas.microsoft.com/office/drawing/2014/main" id="{BB3F0ED0-6E9F-44DF-A22F-BF02DC847EE5}"/>
              </a:ext>
            </a:extLst>
          </p:cNvPr>
          <p:cNvSpPr>
            <a:spLocks xmlns:a="http://schemas.openxmlformats.org/drawingml/2006/main" noGrp="1"/>
          </p:cNvSpPr>
          <p:nvPr/>
        </p:nvSpPr>
        <p:spPr>
          <a:xfrm xmlns:a="http://schemas.openxmlformats.org/drawingml/2006/main">
            <a:off x="609600" y="42957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32B41"/>
                </a:solidFill>
                <a:latin typeface="Arial"/>
                <a:ea typeface="Arial"/>
                <a:cs typeface="Arial"/>
              </a:defRPr>
            </a:pPr>
            <a:r>
              <a:rPr sz="3000" b="0">
                <a:solidFill>
                  <a:srgbClr val="132B41"/>
                </a:solidFill>
                <a:latin typeface="Arial"/>
                <a:ea typeface="Arial"/>
                <a:cs typeface="Arial"/>
              </a:rPr>
              <a:t>Pregunta  →  Embedding + filtros  →  Vecinos</a:t>
            </a:r>
          </a:p>
        </p:txBody>
      </p:sp>
      <p:sp>
        <p:nvSpPr>
          <p:cNvPr id="8" name="El modelo conecta ambos caminos; la metadata conserva i">
            <a:extLst xmlns:a="http://schemas.openxmlformats.org/drawingml/2006/main">
              <a:ext uri="{FF2B5EF4-FFF2-40B4-BE49-F238E27FC236}">
                <a16:creationId xmlns:a16="http://schemas.microsoft.com/office/drawing/2014/main" id="{8F2EB18D-EA00-4B10-9A97-A236621DB9D4}"/>
              </a:ext>
            </a:extLst>
          </p:cNvPr>
          <p:cNvSpPr>
            <a:spLocks xmlns:a="http://schemas.openxmlformats.org/drawingml/2006/main" noGrp="1"/>
          </p:cNvSpPr>
          <p:nvPr/>
        </p:nvSpPr>
        <p:spPr>
          <a:xfrm xmlns:a="http://schemas.openxmlformats.org/drawingml/2006/main">
            <a:off x="609600" y="56959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76"/>
                </a:solidFill>
                <a:latin typeface="Arial"/>
                <a:ea typeface="Arial"/>
                <a:cs typeface="Arial"/>
              </a:defRPr>
            </a:pPr>
            <a:r>
              <a:rPr sz="2025" b="0">
                <a:solidFill>
                  <a:srgbClr val="526476"/>
                </a:solidFill>
                <a:latin typeface="Arial"/>
                <a:ea typeface="Arial"/>
                <a:cs typeface="Arial"/>
              </a:rPr>
              <a:t>El modelo conecta ambos caminos; la metadata conserva identidad y procedencia.</a:t>
            </a:r>
          </a:p>
        </p:txBody>
      </p:sp>
    </p:spTree>
    <p:extLst>
      <p:ext uri="{BB962C8B-B14F-4D97-AF65-F5344CB8AC3E}">
        <p14:creationId xmlns:p14="http://schemas.microsoft.com/office/powerpoint/2010/main" val="6100878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cnologías y aplicaciones">
            <a:extLst xmlns:a="http://schemas.openxmlformats.org/drawingml/2006/main">
              <a:ext uri="{FF2B5EF4-FFF2-40B4-BE49-F238E27FC236}">
                <a16:creationId xmlns:a16="http://schemas.microsoft.com/office/drawing/2014/main" id="{D2D16654-7F82-40A3-B30A-75D222423965}"/>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Tecnologías y aplicaciones</a:t>
            </a:r>
          </a:p>
        </p:txBody>
      </p:sp>
      <p:sp>
        <p:nvSpPr>
          <p:cNvPr id="2" name="11 / 15">
            <a:extLst xmlns:a="http://schemas.openxmlformats.org/drawingml/2006/main">
              <a:ext uri="{FF2B5EF4-FFF2-40B4-BE49-F238E27FC236}">
                <a16:creationId xmlns:a16="http://schemas.microsoft.com/office/drawing/2014/main" id="{39A0127B-3800-437E-90C3-19DD335FD0E0}"/>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11 / 15</a:t>
            </a:r>
          </a:p>
        </p:txBody>
      </p:sp>
      <p:sp>
        <p:nvSpPr>
          <p:cNvPr id="3" name="BASES DE DATOS VECTORIALES · ASI 2026">
            <a:extLst xmlns:a="http://schemas.openxmlformats.org/drawingml/2006/main">
              <a:ext uri="{FF2B5EF4-FFF2-40B4-BE49-F238E27FC236}">
                <a16:creationId xmlns:a16="http://schemas.microsoft.com/office/drawing/2014/main" id="{AC778197-0668-4312-86F9-A1095D6A88EA}"/>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sp>
        <p:nvSpPr>
          <p:cNvPr id="4" name="Chroma  ·  Qdrant  ·  pgvector">
            <a:extLst xmlns:a="http://schemas.openxmlformats.org/drawingml/2006/main">
              <a:ext uri="{FF2B5EF4-FFF2-40B4-BE49-F238E27FC236}">
                <a16:creationId xmlns:a16="http://schemas.microsoft.com/office/drawing/2014/main" id="{39D748F3-E066-45E2-B472-213DDA6A1C70}"/>
              </a:ext>
            </a:extLst>
          </p:cNvPr>
          <p:cNvSpPr>
            <a:spLocks xmlns:a="http://schemas.openxmlformats.org/drawingml/2006/main" noGrp="1"/>
          </p:cNvSpPr>
          <p:nvPr/>
        </p:nvSpPr>
        <p:spPr>
          <a:xfrm xmlns:a="http://schemas.openxmlformats.org/drawingml/2006/main">
            <a:off x="609600" y="1543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E62BE"/>
                </a:solidFill>
                <a:latin typeface="Arial"/>
                <a:ea typeface="Arial"/>
                <a:cs typeface="Arial"/>
              </a:defRPr>
            </a:pPr>
            <a:r>
              <a:rPr sz="2625" b="1">
                <a:solidFill>
                  <a:srgbClr val="1E62BE"/>
                </a:solidFill>
                <a:latin typeface="Arial"/>
                <a:ea typeface="Arial"/>
                <a:cs typeface="Arial"/>
              </a:rPr>
              <a:t>Chroma  ·  Qdrant  ·  pgvector</a:t>
            </a:r>
          </a:p>
        </p:txBody>
      </p:sp>
      <p:graphicFrame>
        <p:nvGraphicFramePr>
          <p:cNvPr id="11" name=""/>
          <p:cNvGraphicFramePr/>
          <p:nvPr/>
        </p:nvGraphicFramePr>
        <p:xfrm>
          <a:off xmlns:a="http://schemas.openxmlformats.org/drawingml/2006/main" x="609600" y="2466975"/>
          <a:ext xmlns:a="http://schemas.openxmlformats.org/drawingml/2006/main" cx="10972800" cy="2667000"/>
        </p:xfrm>
        <a:graphic xmlns:a="http://schemas.openxmlformats.org/drawingml/2006/main">
          <a:graphicData uri="http://schemas.openxmlformats.org/drawingml/2006/table">
            <a:tbl>
              <a:tblPr/>
              <a:tblGrid>
                <a:gridCol w="3619500"/>
                <a:gridCol w="7353300"/>
              </a:tblGrid>
              <a:tr h="666750">
                <a:tc>
                  <a:txBody>
                    <a:bodyPr>
                      <a:noAutofit/>
                    </a:bodyPr>
                    <a:lstStyle/>
                    <a:p>
                      <a:r>
                        <a:rPr sz="1875" b="1">
                          <a:solidFill>
                            <a:srgbClr val="FFFFFF"/>
                          </a:solidFill>
                          <a:latin typeface="Arial"/>
                          <a:ea typeface="Arial"/>
                          <a:cs typeface="Arial"/>
                        </a:rPr>
                        <a:t>Caso publicado</a:t>
                      </a:r>
                    </a:p>
                  </a:txBody>
                  <a:tcPr marL="91440" marR="91440" marT="45720" marB="45720">
                    <a:solidFill>
                      <a:srgbClr val="1E62BE"/>
                    </a:solidFill>
                  </a:tcPr>
                </a:tc>
                <a:tc>
                  <a:txBody>
                    <a:bodyPr>
                      <a:noAutofit/>
                    </a:bodyPr>
                    <a:lstStyle/>
                    <a:p>
                      <a:r>
                        <a:rPr sz="1875" b="1">
                          <a:solidFill>
                            <a:srgbClr val="FFFFFF"/>
                          </a:solidFill>
                          <a:latin typeface="Arial"/>
                          <a:ea typeface="Arial"/>
                          <a:cs typeface="Arial"/>
                        </a:rPr>
                        <a:t>Qué permite explicar</a:t>
                      </a:r>
                    </a:p>
                  </a:txBody>
                  <a:tcPr marL="91440" marR="91440" marT="45720" marB="45720">
                    <a:solidFill>
                      <a:srgbClr val="1E62BE"/>
                    </a:solidFill>
                  </a:tcPr>
                </a:tc>
              </a:tr>
              <a:tr h="666750">
                <a:tc>
                  <a:txBody>
                    <a:bodyPr>
                      <a:noAutofit/>
                    </a:bodyPr>
                    <a:lstStyle/>
                    <a:p>
                      <a:r>
                        <a:rPr sz="1875" b="0">
                          <a:solidFill>
                            <a:srgbClr val="132B41"/>
                          </a:solidFill>
                          <a:latin typeface="Arial"/>
                          <a:ea typeface="Arial"/>
                          <a:cs typeface="Arial"/>
                        </a:rPr>
                        <a:t>LinkedIn</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Estructurar relaciones para recuperar contexto</a:t>
                      </a:r>
                    </a:p>
                  </a:txBody>
                  <a:tcPr marL="91440" marR="91440" marT="45720" marB="45720">
                    <a:solidFill>
                      <a:srgbClr val="FFFFFF"/>
                    </a:solidFill>
                  </a:tcPr>
                </a:tc>
              </a:tr>
              <a:tr h="666750">
                <a:tc>
                  <a:txBody>
                    <a:bodyPr>
                      <a:noAutofit/>
                    </a:bodyPr>
                    <a:lstStyle/>
                    <a:p>
                      <a:r>
                        <a:rPr sz="1875" b="0">
                          <a:solidFill>
                            <a:srgbClr val="132B41"/>
                          </a:solidFill>
                          <a:latin typeface="Arial"/>
                          <a:ea typeface="Arial"/>
                          <a:cs typeface="Arial"/>
                        </a:rPr>
                        <a:t>DoorDash</a:t>
                      </a:r>
                    </a:p>
                  </a:txBody>
                  <a:tcPr marL="91440" marR="91440" marT="45720" marB="45720">
                    <a:solidFill>
                      <a:srgbClr val="F3F6FA"/>
                    </a:solidFill>
                  </a:tcPr>
                </a:tc>
                <a:tc>
                  <a:txBody>
                    <a:bodyPr>
                      <a:noAutofit/>
                    </a:bodyPr>
                    <a:lstStyle/>
                    <a:p>
                      <a:r>
                        <a:rPr sz="1875" b="0">
                          <a:solidFill>
                            <a:srgbClr val="132B41"/>
                          </a:solidFill>
                          <a:latin typeface="Arial"/>
                          <a:ea typeface="Arial"/>
                          <a:cs typeface="Arial"/>
                        </a:rPr>
                        <a:t>Controlar calidad de respuestas RAG</a:t>
                      </a:r>
                    </a:p>
                  </a:txBody>
                  <a:tcPr marL="91440" marR="91440" marT="45720" marB="45720">
                    <a:solidFill>
                      <a:srgbClr val="F3F6FA"/>
                    </a:solidFill>
                  </a:tcPr>
                </a:tc>
              </a:tr>
              <a:tr h="666750">
                <a:tc>
                  <a:txBody>
                    <a:bodyPr>
                      <a:noAutofit/>
                    </a:bodyPr>
                    <a:lstStyle/>
                    <a:p>
                      <a:r>
                        <a:rPr sz="1875" b="0">
                          <a:solidFill>
                            <a:srgbClr val="132B41"/>
                          </a:solidFill>
                          <a:latin typeface="Arial"/>
                          <a:ea typeface="Arial"/>
                          <a:cs typeface="Arial"/>
                        </a:rPr>
                        <a:t>Spotify / Voyager</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Buscar vecinos sin modelo generativo</a:t>
                      </a:r>
                    </a:p>
                  </a:txBody>
                  <a:tcPr marL="91440" marR="91440" marT="45720" marB="45720">
                    <a:solidFill>
                      <a:srgbClr val="FFFFFF"/>
                    </a:solidFill>
                  </a:tcPr>
                </a:tc>
              </a:tr>
            </a:tbl>
          </a:graphicData>
        </a:graphic>
      </p:graphicFrame>
      <p:sp>
        <p:nvSpPr>
          <p:cNvPr id="6" name="La elección depende de fuentes, escala, operación y req">
            <a:extLst xmlns:a="http://schemas.openxmlformats.org/drawingml/2006/main">
              <a:ext uri="{FF2B5EF4-FFF2-40B4-BE49-F238E27FC236}">
                <a16:creationId xmlns:a16="http://schemas.microsoft.com/office/drawing/2014/main" id="{45B1520C-6CE3-4084-8109-8D51CD3FF23E}"/>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B41"/>
                </a:solidFill>
                <a:latin typeface="Arial"/>
                <a:ea typeface="Arial"/>
                <a:cs typeface="Arial"/>
              </a:defRPr>
            </a:pPr>
            <a:r>
              <a:rPr sz="2175" b="1">
                <a:solidFill>
                  <a:srgbClr val="132B41"/>
                </a:solidFill>
                <a:latin typeface="Arial"/>
                <a:ea typeface="Arial"/>
                <a:cs typeface="Arial"/>
              </a:rPr>
              <a:t>La elección depende de fuentes, escala, operación y requisitos de acceso.</a:t>
            </a:r>
          </a:p>
        </p:txBody>
      </p:sp>
    </p:spTree>
    <p:extLst>
      <p:ext uri="{BB962C8B-B14F-4D97-AF65-F5344CB8AC3E}">
        <p14:creationId xmlns:p14="http://schemas.microsoft.com/office/powerpoint/2010/main" val="18559473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ónde participa la base vectorial en RAG">
            <a:extLst xmlns:a="http://schemas.openxmlformats.org/drawingml/2006/main">
              <a:ext uri="{FF2B5EF4-FFF2-40B4-BE49-F238E27FC236}">
                <a16:creationId xmlns:a16="http://schemas.microsoft.com/office/drawing/2014/main" id="{1DAB5361-C422-45EF-9CC1-96C8F5D28725}"/>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Dónde participa la base vectorial en RAG</a:t>
            </a:r>
          </a:p>
        </p:txBody>
      </p:sp>
      <p:sp>
        <p:nvSpPr>
          <p:cNvPr id="2" name="12 / 15">
            <a:extLst xmlns:a="http://schemas.openxmlformats.org/drawingml/2006/main">
              <a:ext uri="{FF2B5EF4-FFF2-40B4-BE49-F238E27FC236}">
                <a16:creationId xmlns:a16="http://schemas.microsoft.com/office/drawing/2014/main" id="{FB689799-D4AB-4008-98C2-0402EBC48921}"/>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12 / 15</a:t>
            </a:r>
          </a:p>
        </p:txBody>
      </p:sp>
      <p:sp>
        <p:nvSpPr>
          <p:cNvPr id="3" name="BASES DE DATOS VECTORIALES · ASI 2026">
            <a:extLst xmlns:a="http://schemas.openxmlformats.org/drawingml/2006/main">
              <a:ext uri="{FF2B5EF4-FFF2-40B4-BE49-F238E27FC236}">
                <a16:creationId xmlns:a16="http://schemas.microsoft.com/office/drawing/2014/main" id="{E3238A88-70A4-41BC-9901-F4508CBF3C77}"/>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sp>
        <p:nvSpPr>
          <p:cNvPr id="4" name="Consulta">
            <a:extLst xmlns:a="http://schemas.openxmlformats.org/drawingml/2006/main">
              <a:ext uri="{FF2B5EF4-FFF2-40B4-BE49-F238E27FC236}">
                <a16:creationId xmlns:a16="http://schemas.microsoft.com/office/drawing/2014/main" id="{34A716B8-A967-4505-AE8B-E11FF2989B40}"/>
              </a:ext>
            </a:extLst>
          </p:cNvPr>
          <p:cNvSpPr>
            <a:spLocks xmlns:a="http://schemas.openxmlformats.org/drawingml/2006/main" noGrp="1"/>
          </p:cNvSpPr>
          <p:nvPr/>
        </p:nvSpPr>
        <p:spPr>
          <a:xfrm xmlns:a="http://schemas.openxmlformats.org/drawingml/2006/main">
            <a:off x="609600" y="1809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E62BE"/>
                </a:solidFill>
                <a:latin typeface="Arial"/>
                <a:ea typeface="Arial"/>
                <a:cs typeface="Arial"/>
              </a:defRPr>
            </a:pPr>
            <a:r>
              <a:rPr sz="2925" b="1">
                <a:solidFill>
                  <a:srgbClr val="1E62BE"/>
                </a:solidFill>
                <a:latin typeface="Arial"/>
                <a:ea typeface="Arial"/>
                <a:cs typeface="Arial"/>
              </a:rPr>
              <a:t>Consulta</a:t>
            </a:r>
          </a:p>
        </p:txBody>
      </p:sp>
      <p:sp>
        <p:nvSpPr>
          <p:cNvPr id="5" name="↓  Recuperación de evidencia">
            <a:extLst xmlns:a="http://schemas.openxmlformats.org/drawingml/2006/main">
              <a:ext uri="{FF2B5EF4-FFF2-40B4-BE49-F238E27FC236}">
                <a16:creationId xmlns:a16="http://schemas.microsoft.com/office/drawing/2014/main" id="{FBD3EFDF-BA0F-42B2-9CC2-86BBF6EC3BFE}"/>
              </a:ext>
            </a:extLst>
          </p:cNvPr>
          <p:cNvSpPr>
            <a:spLocks xmlns:a="http://schemas.openxmlformats.org/drawingml/2006/main" noGrp="1"/>
          </p:cNvSpPr>
          <p:nvPr/>
        </p:nvSpPr>
        <p:spPr>
          <a:xfrm xmlns:a="http://schemas.openxmlformats.org/drawingml/2006/main">
            <a:off x="609600" y="26003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32B41"/>
                </a:solidFill>
                <a:latin typeface="Arial"/>
                <a:ea typeface="Arial"/>
                <a:cs typeface="Arial"/>
              </a:defRPr>
            </a:pPr>
            <a:r>
              <a:rPr sz="2850" b="0">
                <a:solidFill>
                  <a:srgbClr val="132B41"/>
                </a:solidFill>
                <a:latin typeface="Arial"/>
                <a:ea typeface="Arial"/>
                <a:cs typeface="Arial"/>
              </a:rPr>
              <a:t>↓  Recuperación de evidencia</a:t>
            </a:r>
          </a:p>
        </p:txBody>
      </p:sp>
      <p:sp>
        <p:nvSpPr>
          <p:cNvPr id="6" name="↓  Contexto con perfiles y referencias">
            <a:extLst xmlns:a="http://schemas.openxmlformats.org/drawingml/2006/main">
              <a:ext uri="{FF2B5EF4-FFF2-40B4-BE49-F238E27FC236}">
                <a16:creationId xmlns:a16="http://schemas.microsoft.com/office/drawing/2014/main" id="{2013961E-47EA-43BA-99F1-30F64FEF200A}"/>
              </a:ext>
            </a:extLst>
          </p:cNvPr>
          <p:cNvSpPr>
            <a:spLocks xmlns:a="http://schemas.openxmlformats.org/drawingml/2006/main" noGrp="1"/>
          </p:cNvSpPr>
          <p:nvPr/>
        </p:nvSpPr>
        <p:spPr>
          <a:xfrm xmlns:a="http://schemas.openxmlformats.org/drawingml/2006/main">
            <a:off x="609600" y="3476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32B41"/>
                </a:solidFill>
                <a:latin typeface="Arial"/>
                <a:ea typeface="Arial"/>
                <a:cs typeface="Arial"/>
              </a:defRPr>
            </a:pPr>
            <a:r>
              <a:rPr sz="2850" b="0">
                <a:solidFill>
                  <a:srgbClr val="132B41"/>
                </a:solidFill>
                <a:latin typeface="Arial"/>
                <a:ea typeface="Arial"/>
                <a:cs typeface="Arial"/>
              </a:rPr>
              <a:t>↓  Contexto con perfiles y referencias</a:t>
            </a:r>
          </a:p>
        </p:txBody>
      </p:sp>
      <p:sp>
        <p:nvSpPr>
          <p:cNvPr id="7" name="↓  Generación de una respuesta">
            <a:extLst xmlns:a="http://schemas.openxmlformats.org/drawingml/2006/main">
              <a:ext uri="{FF2B5EF4-FFF2-40B4-BE49-F238E27FC236}">
                <a16:creationId xmlns:a16="http://schemas.microsoft.com/office/drawing/2014/main" id="{246DF63F-19C7-4DB6-BF82-DB1407F84DF2}"/>
              </a:ext>
            </a:extLst>
          </p:cNvPr>
          <p:cNvSpPr>
            <a:spLocks xmlns:a="http://schemas.openxmlformats.org/drawingml/2006/main" noGrp="1"/>
          </p:cNvSpPr>
          <p:nvPr/>
        </p:nvSpPr>
        <p:spPr>
          <a:xfrm xmlns:a="http://schemas.openxmlformats.org/drawingml/2006/main">
            <a:off x="609600" y="43529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C44D12"/>
                </a:solidFill>
                <a:latin typeface="Arial"/>
                <a:ea typeface="Arial"/>
                <a:cs typeface="Arial"/>
              </a:defRPr>
            </a:pPr>
            <a:r>
              <a:rPr sz="2850" b="1">
                <a:solidFill>
                  <a:srgbClr val="C44D12"/>
                </a:solidFill>
                <a:latin typeface="Arial"/>
                <a:ea typeface="Arial"/>
                <a:cs typeface="Arial"/>
              </a:rPr>
              <a:t>↓  Generación de una respuesta</a:t>
            </a:r>
          </a:p>
        </p:txBody>
      </p:sp>
      <p:sp>
        <p:nvSpPr>
          <p:cNvPr id="8" name="La base recupera. El LLM redacta. La evidencia requiere">
            <a:extLst xmlns:a="http://schemas.openxmlformats.org/drawingml/2006/main">
              <a:ext uri="{FF2B5EF4-FFF2-40B4-BE49-F238E27FC236}">
                <a16:creationId xmlns:a16="http://schemas.microsoft.com/office/drawing/2014/main" id="{037B9A9A-254B-40F0-AEFE-DCDF548C46BA}"/>
              </a:ext>
            </a:extLst>
          </p:cNvPr>
          <p:cNvSpPr>
            <a:spLocks xmlns:a="http://schemas.openxmlformats.org/drawingml/2006/main" noGrp="1"/>
          </p:cNvSpPr>
          <p:nvPr/>
        </p:nvSpPr>
        <p:spPr>
          <a:xfrm xmlns:a="http://schemas.openxmlformats.org/drawingml/2006/main">
            <a:off x="609600" y="56102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B41"/>
                </a:solidFill>
                <a:latin typeface="Arial"/>
                <a:ea typeface="Arial"/>
                <a:cs typeface="Arial"/>
              </a:defRPr>
            </a:pPr>
            <a:r>
              <a:rPr sz="2175" b="1">
                <a:solidFill>
                  <a:srgbClr val="132B41"/>
                </a:solidFill>
                <a:latin typeface="Arial"/>
                <a:ea typeface="Arial"/>
                <a:cs typeface="Arial"/>
              </a:rPr>
              <a:t>La base recupera. El LLM redacta. La evidencia requiere verificación.</a:t>
            </a:r>
          </a:p>
        </p:txBody>
      </p:sp>
    </p:spTree>
    <p:extLst>
      <p:ext uri="{BB962C8B-B14F-4D97-AF65-F5344CB8AC3E}">
        <p14:creationId xmlns:p14="http://schemas.microsoft.com/office/powerpoint/2010/main" val="6450969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Nuestro buscador de jugadores">
            <a:extLst xmlns:a="http://schemas.openxmlformats.org/drawingml/2006/main">
              <a:ext uri="{FF2B5EF4-FFF2-40B4-BE49-F238E27FC236}">
                <a16:creationId xmlns:a16="http://schemas.microsoft.com/office/drawing/2014/main" id="{57A6B203-9A39-4A6C-8ED8-12A1EAFCAF39}"/>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Nuestro buscador de jugadores</a:t>
            </a:r>
          </a:p>
        </p:txBody>
      </p:sp>
      <p:sp>
        <p:nvSpPr>
          <p:cNvPr id="2" name="13 / 15">
            <a:extLst xmlns:a="http://schemas.openxmlformats.org/drawingml/2006/main">
              <a:ext uri="{FF2B5EF4-FFF2-40B4-BE49-F238E27FC236}">
                <a16:creationId xmlns:a16="http://schemas.microsoft.com/office/drawing/2014/main" id="{B3422354-F01B-496A-8881-E6575C4B8FE4}"/>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13 / 15</a:t>
            </a:r>
          </a:p>
        </p:txBody>
      </p:sp>
      <p:sp>
        <p:nvSpPr>
          <p:cNvPr id="3" name="BASES DE DATOS VECTORIALES · ASI 2026">
            <a:extLst xmlns:a="http://schemas.openxmlformats.org/drawingml/2006/main">
              <a:ext uri="{FF2B5EF4-FFF2-40B4-BE49-F238E27FC236}">
                <a16:creationId xmlns:a16="http://schemas.microsoft.com/office/drawing/2014/main" id="{D17B5B78-A3B3-43CD-A865-0C8A5909D55D}"/>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sp>
        <p:nvSpPr>
          <p:cNvPr id="4" name="20.421">
            <a:extLst xmlns:a="http://schemas.openxmlformats.org/drawingml/2006/main">
              <a:ext uri="{FF2B5EF4-FFF2-40B4-BE49-F238E27FC236}">
                <a16:creationId xmlns:a16="http://schemas.microsoft.com/office/drawing/2014/main" id="{9E7B1DB1-FB3E-4B91-A041-60A0F7C8C264}"/>
              </a:ext>
            </a:extLst>
          </p:cNvPr>
          <p:cNvSpPr>
            <a:spLocks xmlns:a="http://schemas.openxmlformats.org/drawingml/2006/main" noGrp="1"/>
          </p:cNvSpPr>
          <p:nvPr/>
        </p:nvSpPr>
        <p:spPr>
          <a:xfrm xmlns:a="http://schemas.openxmlformats.org/drawingml/2006/main">
            <a:off x="609600" y="162877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E62BE"/>
                </a:solidFill>
                <a:latin typeface="Arial"/>
                <a:ea typeface="Arial"/>
                <a:cs typeface="Arial"/>
              </a:defRPr>
            </a:pPr>
            <a:r>
              <a:rPr sz="6000" b="1">
                <a:solidFill>
                  <a:srgbClr val="1E62BE"/>
                </a:solidFill>
                <a:latin typeface="Arial"/>
                <a:ea typeface="Arial"/>
                <a:cs typeface="Arial"/>
              </a:rPr>
              <a:t>20.421</a:t>
            </a:r>
          </a:p>
        </p:txBody>
      </p:sp>
      <p:sp>
        <p:nvSpPr>
          <p:cNvPr id="5" name="perfiles vectorizados">
            <a:extLst xmlns:a="http://schemas.openxmlformats.org/drawingml/2006/main">
              <a:ext uri="{FF2B5EF4-FFF2-40B4-BE49-F238E27FC236}">
                <a16:creationId xmlns:a16="http://schemas.microsoft.com/office/drawing/2014/main" id="{779FA487-37B3-40DF-B163-2B9186708655}"/>
              </a:ext>
            </a:extLst>
          </p:cNvPr>
          <p:cNvSpPr>
            <a:spLocks xmlns:a="http://schemas.openxmlformats.org/drawingml/2006/main" noGrp="1"/>
          </p:cNvSpPr>
          <p:nvPr/>
        </p:nvSpPr>
        <p:spPr>
          <a:xfrm xmlns:a="http://schemas.openxmlformats.org/drawingml/2006/main">
            <a:off x="609600" y="2609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41"/>
                </a:solidFill>
                <a:latin typeface="Arial"/>
                <a:ea typeface="Arial"/>
                <a:cs typeface="Arial"/>
              </a:defRPr>
            </a:pPr>
            <a:r>
              <a:rPr sz="2250" b="0">
                <a:solidFill>
                  <a:srgbClr val="132B41"/>
                </a:solidFill>
                <a:latin typeface="Arial"/>
                <a:ea typeface="Arial"/>
                <a:cs typeface="Arial"/>
              </a:rPr>
              <a:t>perfiles vectorizados</a:t>
            </a:r>
          </a:p>
        </p:txBody>
      </p:sp>
      <p:sp>
        <p:nvSpPr>
          <p:cNvPr id="6" name="384">
            <a:extLst xmlns:a="http://schemas.openxmlformats.org/drawingml/2006/main">
              <a:ext uri="{FF2B5EF4-FFF2-40B4-BE49-F238E27FC236}">
                <a16:creationId xmlns:a16="http://schemas.microsoft.com/office/drawing/2014/main" id="{6307D61B-1A6D-4048-BF41-D9E717D970AB}"/>
              </a:ext>
            </a:extLst>
          </p:cNvPr>
          <p:cNvSpPr>
            <a:spLocks xmlns:a="http://schemas.openxmlformats.org/drawingml/2006/main" noGrp="1"/>
          </p:cNvSpPr>
          <p:nvPr/>
        </p:nvSpPr>
        <p:spPr>
          <a:xfrm xmlns:a="http://schemas.openxmlformats.org/drawingml/2006/main">
            <a:off x="7115175" y="1628775"/>
            <a:ext cx="42767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C44D12"/>
                </a:solidFill>
                <a:latin typeface="Arial"/>
                <a:ea typeface="Arial"/>
                <a:cs typeface="Arial"/>
              </a:defRPr>
            </a:pPr>
            <a:r>
              <a:rPr sz="6000" b="1">
                <a:solidFill>
                  <a:srgbClr val="C44D12"/>
                </a:solidFill>
                <a:latin typeface="Arial"/>
                <a:ea typeface="Arial"/>
                <a:cs typeface="Arial"/>
              </a:rPr>
              <a:t>384</a:t>
            </a:r>
          </a:p>
        </p:txBody>
      </p:sp>
      <p:sp>
        <p:nvSpPr>
          <p:cNvPr id="7" name="dimensiones por vector">
            <a:extLst xmlns:a="http://schemas.openxmlformats.org/drawingml/2006/main">
              <a:ext uri="{FF2B5EF4-FFF2-40B4-BE49-F238E27FC236}">
                <a16:creationId xmlns:a16="http://schemas.microsoft.com/office/drawing/2014/main" id="{29DDAF20-47EC-46D2-8856-60AF9162E4EC}"/>
              </a:ext>
            </a:extLst>
          </p:cNvPr>
          <p:cNvSpPr>
            <a:spLocks xmlns:a="http://schemas.openxmlformats.org/drawingml/2006/main" noGrp="1"/>
          </p:cNvSpPr>
          <p:nvPr/>
        </p:nvSpPr>
        <p:spPr>
          <a:xfrm xmlns:a="http://schemas.openxmlformats.org/drawingml/2006/main">
            <a:off x="7115175" y="2609850"/>
            <a:ext cx="4276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41"/>
                </a:solidFill>
                <a:latin typeface="Arial"/>
                <a:ea typeface="Arial"/>
                <a:cs typeface="Arial"/>
              </a:defRPr>
            </a:pPr>
            <a:r>
              <a:rPr sz="2250" b="0">
                <a:solidFill>
                  <a:srgbClr val="132B41"/>
                </a:solidFill>
                <a:latin typeface="Arial"/>
                <a:ea typeface="Arial"/>
                <a:cs typeface="Arial"/>
              </a:rPr>
              <a:t>dimensiones por vector</a:t>
            </a:r>
          </a:p>
        </p:txBody>
      </p:sp>
      <p:sp>
        <p:nvSpPr>
          <p:cNvPr id="8" name="Chroma / HNSW / coseno">
            <a:extLst xmlns:a="http://schemas.openxmlformats.org/drawingml/2006/main">
              <a:ext uri="{FF2B5EF4-FFF2-40B4-BE49-F238E27FC236}">
                <a16:creationId xmlns:a16="http://schemas.microsoft.com/office/drawing/2014/main" id="{262198E1-8509-4028-B99D-532FC08635E9}"/>
              </a:ext>
            </a:extLst>
          </p:cNvPr>
          <p:cNvSpPr>
            <a:spLocks xmlns:a="http://schemas.openxmlformats.org/drawingml/2006/main" noGrp="1"/>
          </p:cNvSpPr>
          <p:nvPr/>
        </p:nvSpPr>
        <p:spPr>
          <a:xfrm xmlns:a="http://schemas.openxmlformats.org/drawingml/2006/main">
            <a:off x="609600" y="366712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32B41"/>
                </a:solidFill>
                <a:latin typeface="Arial"/>
                <a:ea typeface="Arial"/>
                <a:cs typeface="Arial"/>
              </a:defRPr>
            </a:pPr>
            <a:r>
              <a:rPr sz="2700" b="1">
                <a:solidFill>
                  <a:srgbClr val="132B41"/>
                </a:solidFill>
                <a:latin typeface="Arial"/>
                <a:ea typeface="Arial"/>
                <a:cs typeface="Arial"/>
              </a:rPr>
              <a:t>Chroma / HNSW / coseno</a:t>
            </a:r>
          </a:p>
        </p:txBody>
      </p:sp>
      <p:sp>
        <p:nvSpPr>
          <p:cNvPr id="9" name="Filtros exactos → pool de vecinos → ranking por atribut">
            <a:extLst xmlns:a="http://schemas.openxmlformats.org/drawingml/2006/main">
              <a:ext uri="{FF2B5EF4-FFF2-40B4-BE49-F238E27FC236}">
                <a16:creationId xmlns:a16="http://schemas.microsoft.com/office/drawing/2014/main" id="{83150088-E270-49BB-8AF5-E3209A7A07B0}"/>
              </a:ext>
            </a:extLst>
          </p:cNvPr>
          <p:cNvSpPr>
            <a:spLocks xmlns:a="http://schemas.openxmlformats.org/drawingml/2006/main" noGrp="1"/>
          </p:cNvSpPr>
          <p:nvPr/>
        </p:nvSpPr>
        <p:spPr>
          <a:xfrm xmlns:a="http://schemas.openxmlformats.org/drawingml/2006/main">
            <a:off x="609600" y="44291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32B41"/>
                </a:solidFill>
                <a:latin typeface="Arial"/>
                <a:ea typeface="Arial"/>
                <a:cs typeface="Arial"/>
              </a:defRPr>
            </a:pPr>
            <a:r>
              <a:rPr sz="2475" b="0">
                <a:solidFill>
                  <a:srgbClr val="132B41"/>
                </a:solidFill>
                <a:latin typeface="Arial"/>
                <a:ea typeface="Arial"/>
                <a:cs typeface="Arial"/>
              </a:rPr>
              <a:t>Filtros exactos → pool de vecinos → ranking por atributos</a:t>
            </a:r>
          </a:p>
        </p:txBody>
      </p:sp>
      <p:sp>
        <p:nvSpPr>
          <p:cNvPr id="10" name="FIFA/EA FC 24 · actualización 2 · 22/09/2023&#10;Valoracion">
            <a:extLst xmlns:a="http://schemas.openxmlformats.org/drawingml/2006/main">
              <a:ext uri="{FF2B5EF4-FFF2-40B4-BE49-F238E27FC236}">
                <a16:creationId xmlns:a16="http://schemas.microsoft.com/office/drawing/2014/main" id="{D3C6412A-728C-44D4-A3E3-0C595AE94D58}"/>
              </a:ext>
            </a:extLst>
          </p:cNvPr>
          <p:cNvSpPr>
            <a:spLocks xmlns:a="http://schemas.openxmlformats.org/drawingml/2006/main" noGrp="1"/>
          </p:cNvSpPr>
          <p:nvPr/>
        </p:nvSpPr>
        <p:spPr>
          <a:xfrm xmlns:a="http://schemas.openxmlformats.org/drawingml/2006/main">
            <a:off x="609600" y="54673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6"/>
                </a:solidFill>
                <a:latin typeface="Arial"/>
                <a:ea typeface="Arial"/>
                <a:cs typeface="Arial"/>
              </a:defRPr>
            </a:pPr>
            <a:r>
              <a:rPr sz="1800" b="0">
                <a:solidFill>
                  <a:srgbClr val="526476"/>
                </a:solidFill>
                <a:latin typeface="Arial"/>
                <a:ea typeface="Arial"/>
                <a:cs typeface="Arial"/>
              </a:rPr>
              <a:t>FIFA/EA FC 24 · actualización 2 · 22/09/2023</a:t>
            </a:r>
          </a:p>
          <a:p xmlns:a="http://schemas.openxmlformats.org/drawingml/2006/main">
            <a:pPr>
              <a:defRPr sz="1800" b="0">
                <a:solidFill>
                  <a:srgbClr val="526476"/>
                </a:solidFill>
                <a:latin typeface="Arial"/>
                <a:ea typeface="Arial"/>
                <a:cs typeface="Arial"/>
              </a:defRPr>
            </a:pPr>
            <a:r>
              <a:rPr sz="1800" b="0">
                <a:solidFill>
                  <a:srgbClr val="526476"/>
                </a:solidFill>
                <a:latin typeface="Arial"/>
                <a:ea typeface="Arial"/>
                <a:cs typeface="Arial"/>
              </a:rPr>
              <a:t>Valoraciones del videojuego, no rendimiento real actualizado</a:t>
            </a:r>
          </a:p>
        </p:txBody>
      </p:sp>
    </p:spTree>
    <p:extLst>
      <p:ext uri="{BB962C8B-B14F-4D97-AF65-F5344CB8AC3E}">
        <p14:creationId xmlns:p14="http://schemas.microsoft.com/office/powerpoint/2010/main" val="9457100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mostración: delantero con regate">
            <a:extLst xmlns:a="http://schemas.openxmlformats.org/drawingml/2006/main">
              <a:ext uri="{FF2B5EF4-FFF2-40B4-BE49-F238E27FC236}">
                <a16:creationId xmlns:a16="http://schemas.microsoft.com/office/drawing/2014/main" id="{CD82D570-41C8-4DD2-B88A-8F2A0DEF2713}"/>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Demostración: delantero con regate</a:t>
            </a:r>
          </a:p>
        </p:txBody>
      </p:sp>
      <p:sp>
        <p:nvSpPr>
          <p:cNvPr id="2" name="14 / 15">
            <a:extLst xmlns:a="http://schemas.openxmlformats.org/drawingml/2006/main">
              <a:ext uri="{FF2B5EF4-FFF2-40B4-BE49-F238E27FC236}">
                <a16:creationId xmlns:a16="http://schemas.microsoft.com/office/drawing/2014/main" id="{F37B2A92-2796-49A2-96EF-F3260792514E}"/>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14 / 15</a:t>
            </a:r>
          </a:p>
        </p:txBody>
      </p:sp>
      <p:sp>
        <p:nvSpPr>
          <p:cNvPr id="3" name="BASES DE DATOS VECTORIALES · ASI 2026">
            <a:extLst xmlns:a="http://schemas.openxmlformats.org/drawingml/2006/main">
              <a:ext uri="{FF2B5EF4-FFF2-40B4-BE49-F238E27FC236}">
                <a16:creationId xmlns:a16="http://schemas.microsoft.com/office/drawing/2014/main" id="{A377FB8D-1A9D-4AC8-9A83-96463859F903}"/>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graphicFrame>
        <p:nvGraphicFramePr>
          <p:cNvPr id="10" name=""/>
          <p:cNvGraphicFramePr/>
          <p:nvPr/>
        </p:nvGraphicFramePr>
        <p:xfrm>
          <a:off xmlns:a="http://schemas.openxmlformats.org/drawingml/2006/main" x="609600" y="1704975"/>
          <a:ext xmlns:a="http://schemas.openxmlformats.org/drawingml/2006/main" cx="10972800" cy="3286125"/>
        </p:xfrm>
        <a:graphic xmlns:a="http://schemas.openxmlformats.org/drawingml/2006/main">
          <a:graphicData uri="http://schemas.openxmlformats.org/drawingml/2006/table">
            <a:tbl>
              <a:tblPr/>
              <a:tblGrid>
                <a:gridCol w="5715000"/>
                <a:gridCol w="1809750"/>
                <a:gridCol w="3448050"/>
              </a:tblGrid>
              <a:tr h="547688">
                <a:tc>
                  <a:txBody>
                    <a:bodyPr>
                      <a:noAutofit/>
                    </a:bodyPr>
                    <a:lstStyle/>
                    <a:p>
                      <a:r>
                        <a:rPr sz="1875" b="1">
                          <a:solidFill>
                            <a:srgbClr val="FFFFFF"/>
                          </a:solidFill>
                          <a:latin typeface="Arial"/>
                          <a:ea typeface="Arial"/>
                          <a:cs typeface="Arial"/>
                        </a:rPr>
                        <a:t>Jugador</a:t>
                      </a:r>
                    </a:p>
                  </a:txBody>
                  <a:tcPr marL="91440" marR="91440" marT="45720" marB="45720">
                    <a:solidFill>
                      <a:srgbClr val="1E62BE"/>
                    </a:solidFill>
                  </a:tcPr>
                </a:tc>
                <a:tc>
                  <a:txBody>
                    <a:bodyPr>
                      <a:noAutofit/>
                    </a:bodyPr>
                    <a:lstStyle/>
                    <a:p>
                      <a:r>
                        <a:rPr sz="1875" b="1">
                          <a:solidFill>
                            <a:srgbClr val="FFFFFF"/>
                          </a:solidFill>
                          <a:latin typeface="Arial"/>
                          <a:ea typeface="Arial"/>
                          <a:cs typeface="Arial"/>
                        </a:rPr>
                        <a:t>Regate</a:t>
                      </a:r>
                    </a:p>
                  </a:txBody>
                  <a:tcPr marL="91440" marR="91440" marT="45720" marB="45720">
                    <a:solidFill>
                      <a:srgbClr val="1E62BE"/>
                    </a:solidFill>
                  </a:tcPr>
                </a:tc>
                <a:tc>
                  <a:txBody>
                    <a:bodyPr>
                      <a:noAutofit/>
                    </a:bodyPr>
                    <a:lstStyle/>
                    <a:p>
                      <a:r>
                        <a:rPr sz="1875" b="1">
                          <a:solidFill>
                            <a:srgbClr val="FFFFFF"/>
                          </a:solidFill>
                          <a:latin typeface="Arial"/>
                          <a:ea typeface="Arial"/>
                          <a:cs typeface="Arial"/>
                        </a:rPr>
                        <a:t>Distancia coseno</a:t>
                      </a:r>
                    </a:p>
                  </a:txBody>
                  <a:tcPr marL="91440" marR="91440" marT="45720" marB="45720">
                    <a:solidFill>
                      <a:srgbClr val="1E62BE"/>
                    </a:solidFill>
                  </a:tcPr>
                </a:tc>
              </a:tr>
              <a:tr h="547688">
                <a:tc>
                  <a:txBody>
                    <a:bodyPr>
                      <a:noAutofit/>
                    </a:bodyPr>
                    <a:lstStyle/>
                    <a:p>
                      <a:r>
                        <a:rPr sz="1875" b="0">
                          <a:solidFill>
                            <a:srgbClr val="132B41"/>
                          </a:solidFill>
                          <a:latin typeface="Arial"/>
                          <a:ea typeface="Arial"/>
                          <a:cs typeface="Arial"/>
                        </a:rPr>
                        <a:t>Kylian Mbappé</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92</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0,5458</a:t>
                      </a:r>
                    </a:p>
                  </a:txBody>
                  <a:tcPr marL="91440" marR="91440" marT="45720" marB="45720">
                    <a:solidFill>
                      <a:srgbClr val="FFFFFF"/>
                    </a:solidFill>
                  </a:tcPr>
                </a:tc>
              </a:tr>
              <a:tr h="547688">
                <a:tc>
                  <a:txBody>
                    <a:bodyPr>
                      <a:noAutofit/>
                    </a:bodyPr>
                    <a:lstStyle/>
                    <a:p>
                      <a:r>
                        <a:rPr sz="1875" b="0">
                          <a:solidFill>
                            <a:srgbClr val="132B41"/>
                          </a:solidFill>
                          <a:latin typeface="Arial"/>
                          <a:ea typeface="Arial"/>
                          <a:cs typeface="Arial"/>
                        </a:rPr>
                        <a:t>Antoine Griezmann</a:t>
                      </a:r>
                    </a:p>
                  </a:txBody>
                  <a:tcPr marL="91440" marR="91440" marT="45720" marB="45720">
                    <a:solidFill>
                      <a:srgbClr val="F3F6FA"/>
                    </a:solidFill>
                  </a:tcPr>
                </a:tc>
                <a:tc>
                  <a:txBody>
                    <a:bodyPr>
                      <a:noAutofit/>
                    </a:bodyPr>
                    <a:lstStyle/>
                    <a:p>
                      <a:r>
                        <a:rPr sz="1875" b="0">
                          <a:solidFill>
                            <a:srgbClr val="132B41"/>
                          </a:solidFill>
                          <a:latin typeface="Arial"/>
                          <a:ea typeface="Arial"/>
                          <a:cs typeface="Arial"/>
                        </a:rPr>
                        <a:t>88</a:t>
                      </a:r>
                    </a:p>
                  </a:txBody>
                  <a:tcPr marL="91440" marR="91440" marT="45720" marB="45720">
                    <a:solidFill>
                      <a:srgbClr val="F3F6FA"/>
                    </a:solidFill>
                  </a:tcPr>
                </a:tc>
                <a:tc>
                  <a:txBody>
                    <a:bodyPr>
                      <a:noAutofit/>
                    </a:bodyPr>
                    <a:lstStyle/>
                    <a:p>
                      <a:r>
                        <a:rPr sz="1875" b="0">
                          <a:solidFill>
                            <a:srgbClr val="132B41"/>
                          </a:solidFill>
                          <a:latin typeface="Arial"/>
                          <a:ea typeface="Arial"/>
                          <a:cs typeface="Arial"/>
                        </a:rPr>
                        <a:t>0,4895</a:t>
                      </a:r>
                    </a:p>
                  </a:txBody>
                  <a:tcPr marL="91440" marR="91440" marT="45720" marB="45720">
                    <a:solidFill>
                      <a:srgbClr val="F3F6FA"/>
                    </a:solidFill>
                  </a:tcPr>
                </a:tc>
              </a:tr>
              <a:tr h="547688">
                <a:tc>
                  <a:txBody>
                    <a:bodyPr>
                      <a:noAutofit/>
                    </a:bodyPr>
                    <a:lstStyle/>
                    <a:p>
                      <a:r>
                        <a:rPr sz="1875" b="0">
                          <a:solidFill>
                            <a:srgbClr val="132B41"/>
                          </a:solidFill>
                          <a:latin typeface="Arial"/>
                          <a:ea typeface="Arial"/>
                          <a:cs typeface="Arial"/>
                        </a:rPr>
                        <a:t>Gabriel Jesus</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88</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0,5048</a:t>
                      </a:r>
                    </a:p>
                  </a:txBody>
                  <a:tcPr marL="91440" marR="91440" marT="45720" marB="45720">
                    <a:solidFill>
                      <a:srgbClr val="FFFFFF"/>
                    </a:solidFill>
                  </a:tcPr>
                </a:tc>
              </a:tr>
              <a:tr h="547688">
                <a:tc>
                  <a:txBody>
                    <a:bodyPr>
                      <a:noAutofit/>
                    </a:bodyPr>
                    <a:lstStyle/>
                    <a:p>
                      <a:r>
                        <a:rPr sz="1875" b="0">
                          <a:solidFill>
                            <a:srgbClr val="132B41"/>
                          </a:solidFill>
                          <a:latin typeface="Arial"/>
                          <a:ea typeface="Arial"/>
                          <a:cs typeface="Arial"/>
                        </a:rPr>
                        <a:t>Christopher Nkunku</a:t>
                      </a:r>
                    </a:p>
                  </a:txBody>
                  <a:tcPr marL="91440" marR="91440" marT="45720" marB="45720">
                    <a:solidFill>
                      <a:srgbClr val="F3F6FA"/>
                    </a:solidFill>
                  </a:tcPr>
                </a:tc>
                <a:tc>
                  <a:txBody>
                    <a:bodyPr>
                      <a:noAutofit/>
                    </a:bodyPr>
                    <a:lstStyle/>
                    <a:p>
                      <a:r>
                        <a:rPr sz="1875" b="0">
                          <a:solidFill>
                            <a:srgbClr val="132B41"/>
                          </a:solidFill>
                          <a:latin typeface="Arial"/>
                          <a:ea typeface="Arial"/>
                          <a:cs typeface="Arial"/>
                        </a:rPr>
                        <a:t>88</a:t>
                      </a:r>
                    </a:p>
                  </a:txBody>
                  <a:tcPr marL="91440" marR="91440" marT="45720" marB="45720">
                    <a:solidFill>
                      <a:srgbClr val="F3F6FA"/>
                    </a:solidFill>
                  </a:tcPr>
                </a:tc>
                <a:tc>
                  <a:txBody>
                    <a:bodyPr>
                      <a:noAutofit/>
                    </a:bodyPr>
                    <a:lstStyle/>
                    <a:p>
                      <a:r>
                        <a:rPr sz="1875" b="0">
                          <a:solidFill>
                            <a:srgbClr val="132B41"/>
                          </a:solidFill>
                          <a:latin typeface="Arial"/>
                          <a:ea typeface="Arial"/>
                          <a:cs typeface="Arial"/>
                        </a:rPr>
                        <a:t>0,5243</a:t>
                      </a:r>
                    </a:p>
                  </a:txBody>
                  <a:tcPr marL="91440" marR="91440" marT="45720" marB="45720">
                    <a:solidFill>
                      <a:srgbClr val="F3F6FA"/>
                    </a:solidFill>
                  </a:tcPr>
                </a:tc>
              </a:tr>
              <a:tr h="547688">
                <a:tc>
                  <a:txBody>
                    <a:bodyPr>
                      <a:noAutofit/>
                    </a:bodyPr>
                    <a:lstStyle/>
                    <a:p>
                      <a:r>
                        <a:rPr sz="1875" b="0">
                          <a:solidFill>
                            <a:srgbClr val="132B41"/>
                          </a:solidFill>
                          <a:latin typeface="Arial"/>
                          <a:ea typeface="Arial"/>
                          <a:cs typeface="Arial"/>
                        </a:rPr>
                        <a:t>Wissam Ben Yedder</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87</a:t>
                      </a:r>
                    </a:p>
                  </a:txBody>
                  <a:tcPr marL="91440" marR="91440" marT="45720" marB="45720">
                    <a:solidFill>
                      <a:srgbClr val="FFFFFF"/>
                    </a:solidFill>
                  </a:tcPr>
                </a:tc>
                <a:tc>
                  <a:txBody>
                    <a:bodyPr>
                      <a:noAutofit/>
                    </a:bodyPr>
                    <a:lstStyle/>
                    <a:p>
                      <a:r>
                        <a:rPr sz="1875" b="0">
                          <a:solidFill>
                            <a:srgbClr val="132B41"/>
                          </a:solidFill>
                          <a:latin typeface="Arial"/>
                          <a:ea typeface="Arial"/>
                          <a:cs typeface="Arial"/>
                        </a:rPr>
                        <a:t>0,4988</a:t>
                      </a:r>
                    </a:p>
                  </a:txBody>
                  <a:tcPr marL="91440" marR="91440" marT="45720" marB="45720">
                    <a:solidFill>
                      <a:srgbClr val="FFFFFF"/>
                    </a:solidFill>
                  </a:tcPr>
                </a:tc>
              </a:tr>
            </a:tbl>
          </a:graphicData>
        </a:graphic>
      </p:graphicFrame>
      <p:sp>
        <p:nvSpPr>
          <p:cNvPr id="5" name="ST · k = 5 · 3.194 elegibles · orden final por regate">
            <a:extLst xmlns:a="http://schemas.openxmlformats.org/drawingml/2006/main">
              <a:ext uri="{FF2B5EF4-FFF2-40B4-BE49-F238E27FC236}">
                <a16:creationId xmlns:a16="http://schemas.microsoft.com/office/drawing/2014/main" id="{294247F6-9355-4666-9CF5-B472D67E2038}"/>
              </a:ext>
            </a:extLst>
          </p:cNvPr>
          <p:cNvSpPr>
            <a:spLocks xmlns:a="http://schemas.openxmlformats.org/drawingml/2006/main" noGrp="1"/>
          </p:cNvSpPr>
          <p:nvPr/>
        </p:nvSpPr>
        <p:spPr>
          <a:xfrm xmlns:a="http://schemas.openxmlformats.org/drawingml/2006/main">
            <a:off x="609600" y="5314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E62BE"/>
                </a:solidFill>
                <a:latin typeface="Arial"/>
                <a:ea typeface="Arial"/>
                <a:cs typeface="Arial"/>
              </a:defRPr>
            </a:pPr>
            <a:r>
              <a:rPr sz="2250" b="1">
                <a:solidFill>
                  <a:srgbClr val="1E62BE"/>
                </a:solidFill>
                <a:latin typeface="Arial"/>
                <a:ea typeface="Arial"/>
                <a:cs typeface="Arial"/>
              </a:rPr>
              <a:t>ST · k = 5 · 3.194 elegibles · orden final por regate</a:t>
            </a:r>
          </a:p>
        </p:txBody>
      </p:sp>
      <p:sp>
        <p:nvSpPr>
          <p:cNvPr id="6" name="Respaldo: consulta registrada el 12/09/2026, sin LLM. N">
            <a:extLst xmlns:a="http://schemas.openxmlformats.org/drawingml/2006/main">
              <a:ext uri="{FF2B5EF4-FFF2-40B4-BE49-F238E27FC236}">
                <a16:creationId xmlns:a16="http://schemas.microsoft.com/office/drawing/2014/main" id="{B365DDC7-407A-4706-A68B-64F33DB3B9B2}"/>
              </a:ext>
            </a:extLst>
          </p:cNvPr>
          <p:cNvSpPr>
            <a:spLocks xmlns:a="http://schemas.openxmlformats.org/drawingml/2006/main" noGrp="1"/>
          </p:cNvSpPr>
          <p:nvPr/>
        </p:nvSpPr>
        <p:spPr>
          <a:xfrm xmlns:a="http://schemas.openxmlformats.org/drawingml/2006/main">
            <a:off x="609600" y="586740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476"/>
                </a:solidFill>
                <a:latin typeface="Arial"/>
                <a:ea typeface="Arial"/>
                <a:cs typeface="Arial"/>
              </a:defRPr>
            </a:pPr>
            <a:r>
              <a:rPr sz="1725" b="0">
                <a:solidFill>
                  <a:srgbClr val="526476"/>
                </a:solidFill>
                <a:latin typeface="Arial"/>
                <a:ea typeface="Arial"/>
                <a:cs typeface="Arial"/>
              </a:rPr>
              <a:t>Respaldo: consulta registrada el 12/09/2026, sin LLM. No es una captura en vivo.</a:t>
            </a:r>
          </a:p>
        </p:txBody>
      </p:sp>
    </p:spTree>
    <p:extLst>
      <p:ext uri="{BB962C8B-B14F-4D97-AF65-F5344CB8AC3E}">
        <p14:creationId xmlns:p14="http://schemas.microsoft.com/office/powerpoint/2010/main" val="1474222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lusiones y límites">
            <a:extLst xmlns:a="http://schemas.openxmlformats.org/drawingml/2006/main">
              <a:ext uri="{FF2B5EF4-FFF2-40B4-BE49-F238E27FC236}">
                <a16:creationId xmlns:a16="http://schemas.microsoft.com/office/drawing/2014/main" id="{F7215AC9-7B86-48BA-8812-A050514744F5}"/>
              </a:ext>
            </a:extLst>
          </p:cNvPr>
          <p:cNvSpPr>
            <a:spLocks xmlns:a="http://schemas.openxmlformats.org/drawingml/2006/main" noGrp="1"/>
          </p:cNvSpPr>
          <p:nvPr/>
        </p:nvSpPr>
        <p:spPr>
          <a:xfrm xmlns:a="http://schemas.openxmlformats.org/drawingml/2006/main">
            <a:off x="609600" y="4286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41"/>
                </a:solidFill>
                <a:latin typeface="Arial"/>
                <a:ea typeface="Arial"/>
                <a:cs typeface="Arial"/>
              </a:defRPr>
            </a:pPr>
            <a:r>
              <a:rPr sz="3450" b="1">
                <a:solidFill>
                  <a:srgbClr val="132B41"/>
                </a:solidFill>
                <a:latin typeface="Arial"/>
                <a:ea typeface="Arial"/>
                <a:cs typeface="Arial"/>
              </a:rPr>
              <a:t>Conclusiones y límites</a:t>
            </a:r>
          </a:p>
        </p:txBody>
      </p:sp>
      <p:sp>
        <p:nvSpPr>
          <p:cNvPr id="2" name="15 / 15">
            <a:extLst xmlns:a="http://schemas.openxmlformats.org/drawingml/2006/main">
              <a:ext uri="{FF2B5EF4-FFF2-40B4-BE49-F238E27FC236}">
                <a16:creationId xmlns:a16="http://schemas.microsoft.com/office/drawing/2014/main" id="{73958B4D-5975-4964-981D-25F96A473A3B}"/>
              </a:ext>
            </a:extLst>
          </p:cNvPr>
          <p:cNvSpPr>
            <a:spLocks xmlns:a="http://schemas.openxmlformats.org/drawingml/2006/main" noGrp="1"/>
          </p:cNvSpPr>
          <p:nvPr/>
        </p:nvSpPr>
        <p:spPr>
          <a:xfrm xmlns:a="http://schemas.openxmlformats.org/drawingml/2006/main">
            <a:off x="10715625" y="6400800"/>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15 / 15</a:t>
            </a:r>
          </a:p>
        </p:txBody>
      </p:sp>
      <p:sp>
        <p:nvSpPr>
          <p:cNvPr id="3" name="BASES DE DATOS VECTORIALES · ASI 2026">
            <a:extLst xmlns:a="http://schemas.openxmlformats.org/drawingml/2006/main">
              <a:ext uri="{FF2B5EF4-FFF2-40B4-BE49-F238E27FC236}">
                <a16:creationId xmlns:a16="http://schemas.microsoft.com/office/drawing/2014/main" id="{0270D7EE-D3A6-4D09-A673-02864B71CA2E}"/>
              </a:ext>
            </a:extLst>
          </p:cNvPr>
          <p:cNvSpPr>
            <a:spLocks xmlns:a="http://schemas.openxmlformats.org/drawingml/2006/main" noGrp="1"/>
          </p:cNvSpPr>
          <p:nvPr/>
        </p:nvSpPr>
        <p:spPr>
          <a:xfrm xmlns:a="http://schemas.openxmlformats.org/drawingml/2006/main">
            <a:off x="6096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76"/>
                </a:solidFill>
                <a:latin typeface="Arial"/>
                <a:ea typeface="Arial"/>
                <a:cs typeface="Arial"/>
              </a:defRPr>
            </a:pPr>
            <a:r>
              <a:rPr sz="1275" b="0">
                <a:solidFill>
                  <a:srgbClr val="526476"/>
                </a:solidFill>
                <a:latin typeface="Arial"/>
                <a:ea typeface="Arial"/>
                <a:cs typeface="Arial"/>
              </a:rPr>
              <a:t>BASES DE DATOS VECTORIALES · ASI 2026</a:t>
            </a:r>
          </a:p>
        </p:txBody>
      </p:sp>
      <p:sp>
        <p:nvSpPr>
          <p:cNvPr id="4" name="01">
            <a:extLst xmlns:a="http://schemas.openxmlformats.org/drawingml/2006/main">
              <a:ext uri="{FF2B5EF4-FFF2-40B4-BE49-F238E27FC236}">
                <a16:creationId xmlns:a16="http://schemas.microsoft.com/office/drawing/2014/main" id="{2FE5A22B-B320-4855-AFF2-CAB0FDA23193}"/>
              </a:ext>
            </a:extLst>
          </p:cNvPr>
          <p:cNvSpPr>
            <a:spLocks xmlns:a="http://schemas.openxmlformats.org/drawingml/2006/main" noGrp="1"/>
          </p:cNvSpPr>
          <p:nvPr/>
        </p:nvSpPr>
        <p:spPr>
          <a:xfrm xmlns:a="http://schemas.openxmlformats.org/drawingml/2006/main">
            <a:off x="609600" y="1771650"/>
            <a:ext cx="90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E62BE"/>
                </a:solidFill>
                <a:latin typeface="Arial"/>
                <a:ea typeface="Arial"/>
                <a:cs typeface="Arial"/>
              </a:defRPr>
            </a:pPr>
            <a:r>
              <a:rPr sz="3225" b="1">
                <a:solidFill>
                  <a:srgbClr val="1E62BE"/>
                </a:solidFill>
                <a:latin typeface="Arial"/>
                <a:ea typeface="Arial"/>
                <a:cs typeface="Arial"/>
              </a:rPr>
              <a:t>01</a:t>
            </a:r>
          </a:p>
        </p:txBody>
      </p:sp>
      <p:sp>
        <p:nvSpPr>
          <p:cNvPr id="5" name="Representar no garantiza comprender">
            <a:extLst xmlns:a="http://schemas.openxmlformats.org/drawingml/2006/main">
              <a:ext uri="{FF2B5EF4-FFF2-40B4-BE49-F238E27FC236}">
                <a16:creationId xmlns:a16="http://schemas.microsoft.com/office/drawing/2014/main" id="{B0477D16-14A7-4B85-B7E3-F0565D6D0710}"/>
              </a:ext>
            </a:extLst>
          </p:cNvPr>
          <p:cNvSpPr>
            <a:spLocks xmlns:a="http://schemas.openxmlformats.org/drawingml/2006/main" noGrp="1"/>
          </p:cNvSpPr>
          <p:nvPr/>
        </p:nvSpPr>
        <p:spPr>
          <a:xfrm xmlns:a="http://schemas.openxmlformats.org/drawingml/2006/main">
            <a:off x="1743075" y="1828800"/>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32B41"/>
                </a:solidFill>
                <a:latin typeface="Arial"/>
                <a:ea typeface="Arial"/>
                <a:cs typeface="Arial"/>
              </a:defRPr>
            </a:pPr>
            <a:r>
              <a:rPr sz="2700" b="1">
                <a:solidFill>
                  <a:srgbClr val="132B41"/>
                </a:solidFill>
                <a:latin typeface="Arial"/>
                <a:ea typeface="Arial"/>
                <a:cs typeface="Arial"/>
              </a:rPr>
              <a:t>Representar no garantiza comprender</a:t>
            </a:r>
          </a:p>
        </p:txBody>
      </p:sp>
      <p:sp>
        <p:nvSpPr>
          <p:cNvPr id="6" name="02">
            <a:extLst xmlns:a="http://schemas.openxmlformats.org/drawingml/2006/main">
              <a:ext uri="{FF2B5EF4-FFF2-40B4-BE49-F238E27FC236}">
                <a16:creationId xmlns:a16="http://schemas.microsoft.com/office/drawing/2014/main" id="{7A6ED53B-34B2-41F4-81A5-3F386270C51A}"/>
              </a:ext>
            </a:extLst>
          </p:cNvPr>
          <p:cNvSpPr>
            <a:spLocks xmlns:a="http://schemas.openxmlformats.org/drawingml/2006/main" noGrp="1"/>
          </p:cNvSpPr>
          <p:nvPr/>
        </p:nvSpPr>
        <p:spPr>
          <a:xfrm xmlns:a="http://schemas.openxmlformats.org/drawingml/2006/main">
            <a:off x="609600" y="3009900"/>
            <a:ext cx="90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E62BE"/>
                </a:solidFill>
                <a:latin typeface="Arial"/>
                <a:ea typeface="Arial"/>
                <a:cs typeface="Arial"/>
              </a:defRPr>
            </a:pPr>
            <a:r>
              <a:rPr sz="3225" b="1">
                <a:solidFill>
                  <a:srgbClr val="1E62BE"/>
                </a:solidFill>
                <a:latin typeface="Arial"/>
                <a:ea typeface="Arial"/>
                <a:cs typeface="Arial"/>
              </a:rPr>
              <a:t>02</a:t>
            </a:r>
          </a:p>
        </p:txBody>
      </p:sp>
      <p:sp>
        <p:nvSpPr>
          <p:cNvPr id="7" name="Similitud, filtros y ranking cumplen funciones distinta">
            <a:extLst xmlns:a="http://schemas.openxmlformats.org/drawingml/2006/main">
              <a:ext uri="{FF2B5EF4-FFF2-40B4-BE49-F238E27FC236}">
                <a16:creationId xmlns:a16="http://schemas.microsoft.com/office/drawing/2014/main" id="{03CCE266-C7D1-4CA4-8979-9B1CCA93C92B}"/>
              </a:ext>
            </a:extLst>
          </p:cNvPr>
          <p:cNvSpPr>
            <a:spLocks xmlns:a="http://schemas.openxmlformats.org/drawingml/2006/main" noGrp="1"/>
          </p:cNvSpPr>
          <p:nvPr/>
        </p:nvSpPr>
        <p:spPr>
          <a:xfrm xmlns:a="http://schemas.openxmlformats.org/drawingml/2006/main">
            <a:off x="1743075" y="3067050"/>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32B41"/>
                </a:solidFill>
                <a:latin typeface="Arial"/>
                <a:ea typeface="Arial"/>
                <a:cs typeface="Arial"/>
              </a:defRPr>
            </a:pPr>
            <a:r>
              <a:rPr sz="2625" b="1">
                <a:solidFill>
                  <a:srgbClr val="132B41"/>
                </a:solidFill>
                <a:latin typeface="Arial"/>
                <a:ea typeface="Arial"/>
                <a:cs typeface="Arial"/>
              </a:rPr>
              <a:t>Similitud, filtros y ranking cumplen funciones distintas</a:t>
            </a:r>
          </a:p>
        </p:txBody>
      </p:sp>
      <p:sp>
        <p:nvSpPr>
          <p:cNvPr id="8" name="03">
            <a:extLst xmlns:a="http://schemas.openxmlformats.org/drawingml/2006/main">
              <a:ext uri="{FF2B5EF4-FFF2-40B4-BE49-F238E27FC236}">
                <a16:creationId xmlns:a16="http://schemas.microsoft.com/office/drawing/2014/main" id="{F365B972-0505-4BB1-A50A-D29E0F53CB5B}"/>
              </a:ext>
            </a:extLst>
          </p:cNvPr>
          <p:cNvSpPr>
            <a:spLocks xmlns:a="http://schemas.openxmlformats.org/drawingml/2006/main" noGrp="1"/>
          </p:cNvSpPr>
          <p:nvPr/>
        </p:nvSpPr>
        <p:spPr>
          <a:xfrm xmlns:a="http://schemas.openxmlformats.org/drawingml/2006/main">
            <a:off x="609600" y="4514850"/>
            <a:ext cx="90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E62BE"/>
                </a:solidFill>
                <a:latin typeface="Arial"/>
                <a:ea typeface="Arial"/>
                <a:cs typeface="Arial"/>
              </a:defRPr>
            </a:pPr>
            <a:r>
              <a:rPr sz="3225" b="1">
                <a:solidFill>
                  <a:srgbClr val="1E62BE"/>
                </a:solidFill>
                <a:latin typeface="Arial"/>
                <a:ea typeface="Arial"/>
                <a:cs typeface="Arial"/>
              </a:rPr>
              <a:t>03</a:t>
            </a:r>
          </a:p>
        </p:txBody>
      </p:sp>
      <p:sp>
        <p:nvSpPr>
          <p:cNvPr id="9" name="La calidad exige fuentes, evaluación y mantenimiento">
            <a:extLst xmlns:a="http://schemas.openxmlformats.org/drawingml/2006/main">
              <a:ext uri="{FF2B5EF4-FFF2-40B4-BE49-F238E27FC236}">
                <a16:creationId xmlns:a16="http://schemas.microsoft.com/office/drawing/2014/main" id="{76F9216D-74C4-454D-9BB7-F19DAC68BAB3}"/>
              </a:ext>
            </a:extLst>
          </p:cNvPr>
          <p:cNvSpPr>
            <a:spLocks xmlns:a="http://schemas.openxmlformats.org/drawingml/2006/main" noGrp="1"/>
          </p:cNvSpPr>
          <p:nvPr/>
        </p:nvSpPr>
        <p:spPr>
          <a:xfrm xmlns:a="http://schemas.openxmlformats.org/drawingml/2006/main">
            <a:off x="1743075" y="4572000"/>
            <a:ext cx="971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32B41"/>
                </a:solidFill>
                <a:latin typeface="Arial"/>
                <a:ea typeface="Arial"/>
                <a:cs typeface="Arial"/>
              </a:defRPr>
            </a:pPr>
            <a:r>
              <a:rPr sz="2625" b="1">
                <a:solidFill>
                  <a:srgbClr val="132B41"/>
                </a:solidFill>
                <a:latin typeface="Arial"/>
                <a:ea typeface="Arial"/>
                <a:cs typeface="Arial"/>
              </a:rPr>
              <a:t>La calidad exige fuentes, evaluación y mantenimiento</a:t>
            </a:r>
          </a:p>
        </p:txBody>
      </p:sp>
      <p:sp>
        <p:nvSpPr>
          <p:cNvPr id="10" name="Datos históricos · sin evaluación etiquetada de relevan">
            <a:extLst xmlns:a="http://schemas.openxmlformats.org/drawingml/2006/main">
              <a:ext uri="{FF2B5EF4-FFF2-40B4-BE49-F238E27FC236}">
                <a16:creationId xmlns:a16="http://schemas.microsoft.com/office/drawing/2014/main" id="{66B4F312-23EC-4A0E-8B2B-7962827BDDAA}"/>
              </a:ext>
            </a:extLst>
          </p:cNvPr>
          <p:cNvSpPr>
            <a:spLocks xmlns:a="http://schemas.openxmlformats.org/drawingml/2006/main" noGrp="1"/>
          </p:cNvSpPr>
          <p:nvPr/>
        </p:nvSpPr>
        <p:spPr>
          <a:xfrm xmlns:a="http://schemas.openxmlformats.org/drawingml/2006/main">
            <a:off x="609600" y="582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476"/>
                </a:solidFill>
                <a:latin typeface="Arial"/>
                <a:ea typeface="Arial"/>
                <a:cs typeface="Arial"/>
              </a:defRPr>
            </a:pPr>
            <a:r>
              <a:rPr sz="1725" b="0">
                <a:solidFill>
                  <a:srgbClr val="526476"/>
                </a:solidFill>
                <a:latin typeface="Arial"/>
                <a:ea typeface="Arial"/>
                <a:cs typeface="Arial"/>
              </a:rPr>
              <a:t>Datos históricos · sin evaluación etiquetada de relevancia · generación opcional</a:t>
            </a:r>
          </a:p>
        </p:txBody>
      </p:sp>
    </p:spTree>
    <p:extLst>
      <p:ext uri="{BB962C8B-B14F-4D97-AF65-F5344CB8AC3E}">
        <p14:creationId xmlns:p14="http://schemas.microsoft.com/office/powerpoint/2010/main" val="4651244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2026-09-12T22:11:24.8380000Z</dcterms:created>
  <dcterms:modified xsi:type="dcterms:W3CDTF">2026-09-12T22:11:24.8380000Z</dcterms:modified>
</coreProperties>
</file>